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12192000" cy="6858000"/>
  <p:notesSz cx="7559675" cy="10691813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 varScale="1">
        <p:scale>
          <a:sx n="59" d="100"/>
          <a:sy n="59" d="100"/>
        </p:scale>
        <p:origin x="9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889C642-F048-4EFC-965D-0B0B433D5AD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312048C-82D5-4A8C-9BD4-4520D0CCCC1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ACF1504-FB9E-4731-931A-EE349AC228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829CD37-97E7-4AEA-AC14-633637190BD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B7F02150-5492-462F-915E-533FAFB57C7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2B85A4F6-DF8E-45CD-957C-55ECB9A7491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6EA4362A-FED2-4A52-9355-BABE2DFA5C0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03FDF2A2-59B8-4149-9947-59E018587966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3DA847E6-A3C5-4F0C-9233-D534B9A0404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0865A635-A3A6-4D2A-8FD5-4CD60D0EE44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3C565085-E739-4C27-B75C-F1800AE1165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fld id="{4FA6E616-EA49-49F9-9EED-79114339A08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F88B8F-E442-423D-92C5-A5515752147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F85F24-F138-425E-8802-1FBAEB3F018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0714F8-7892-4DE0-87C2-D3E12D52B22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D6A7E5-E82B-4AC3-B383-8A4CBE6F2F2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3E4D1E-CA4C-4582-9763-3D6341A0550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545D22-90FD-4F72-B17F-C283319B0D8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F7C09F-9156-4862-A3AC-81F4317E3DE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0D87D3-D809-47E8-9A25-D31CAF61625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4787C9-5BC7-4CFD-9D35-991D81651E9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E36E81-B556-4CE8-99AE-8AA944773E7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3F005D-03DB-4910-BD83-5F073AE89F5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dt" idx="34"/>
          </p:nvPr>
        </p:nvSpPr>
        <p:spPr>
          <a:xfrm>
            <a:off x="45684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5"/>
          </p:nvPr>
        </p:nvSpPr>
        <p:spPr>
          <a:xfrm>
            <a:off x="31237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sldNum" idx="36"/>
          </p:nvPr>
        </p:nvSpPr>
        <p:spPr>
          <a:xfrm>
            <a:off x="655272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65645A-E06D-4B94-A3A5-D8016A9F47B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4.png"/><Relationship Id="rId2" Type="http://schemas.openxmlformats.org/officeDocument/2006/relationships/audio" Target="../media/media2.m4a"/><Relationship Id="rId16" Type="http://schemas.openxmlformats.org/officeDocument/2006/relationships/image" Target="../media/image17.png"/><Relationship Id="rId1" Type="http://schemas.microsoft.com/office/2007/relationships/media" Target="../media/media2.m4a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microsoft.com/office/2007/relationships/media" Target="../media/media4.m4a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audio" Target="../media/media3.m4a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microsoft.com/office/2007/relationships/media" Target="../media/media3.m4a"/><Relationship Id="rId6" Type="http://schemas.openxmlformats.org/officeDocument/2006/relationships/image" Target="../media/image5.png"/><Relationship Id="rId11" Type="http://schemas.openxmlformats.org/officeDocument/2006/relationships/image" Target="../media/image22.png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audio" Target="../media/media4.m4a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slideLayout" Target="../slideLayouts/slideLayout9.xml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audio" Target="../media/media6.m4a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microsoft.com/office/2007/relationships/media" Target="../media/media6.m4a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5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9.m4a"/><Relationship Id="rId7" Type="http://schemas.openxmlformats.org/officeDocument/2006/relationships/image" Target="../media/image4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52.png"/><Relationship Id="rId5" Type="http://schemas.openxmlformats.org/officeDocument/2006/relationships/slideLayout" Target="../slideLayouts/slideLayout9.xml"/><Relationship Id="rId4" Type="http://schemas.openxmlformats.org/officeDocument/2006/relationships/audio" Target="../media/media9.m4a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4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57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 descr="image.png"/>
          <p:cNvPicPr/>
          <p:nvPr/>
        </p:nvPicPr>
        <p:blipFill>
          <a:blip r:embed="rId4"/>
          <a:stretch/>
        </p:blipFill>
        <p:spPr>
          <a:xfrm>
            <a:off x="734040" y="1781280"/>
            <a:ext cx="4966920" cy="294840"/>
          </a:xfrm>
          <a:prstGeom prst="rect">
            <a:avLst/>
          </a:prstGeom>
          <a:ln w="0">
            <a:noFill/>
          </a:ln>
        </p:spPr>
      </p:pic>
      <p:pic>
        <p:nvPicPr>
          <p:cNvPr id="71" name="Picture 3" descr="image.png"/>
          <p:cNvPicPr/>
          <p:nvPr/>
        </p:nvPicPr>
        <p:blipFill>
          <a:blip r:embed="rId5"/>
          <a:stretch/>
        </p:blipFill>
        <p:spPr>
          <a:xfrm>
            <a:off x="844200" y="4572000"/>
            <a:ext cx="10813680" cy="1228320"/>
          </a:xfrm>
          <a:prstGeom prst="rect">
            <a:avLst/>
          </a:prstGeom>
          <a:ln w="0">
            <a:noFill/>
          </a:ln>
        </p:spPr>
      </p:pic>
      <p:sp>
        <p:nvSpPr>
          <p:cNvPr id="72" name="TextBox 4"/>
          <p:cNvSpPr/>
          <p:nvPr/>
        </p:nvSpPr>
        <p:spPr>
          <a:xfrm>
            <a:off x="761760" y="2314440"/>
            <a:ext cx="11400840" cy="62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949"/>
              </a:lnSpc>
            </a:pPr>
            <a:r>
              <a:rPr lang="en-PK" sz="3200" b="1" strike="noStrike" spc="-1">
                <a:solidFill>
                  <a:srgbClr val="0F172A"/>
                </a:solidFill>
                <a:latin typeface="Plus Jakarta Sans"/>
              </a:rPr>
              <a:t>Nuclear Medicine Operations Platform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4"/>
          <p:cNvSpPr/>
          <p:nvPr/>
        </p:nvSpPr>
        <p:spPr>
          <a:xfrm>
            <a:off x="761760" y="2943360"/>
            <a:ext cx="1085796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75"/>
              </a:lnSpc>
            </a:pPr>
            <a:r>
              <a:rPr lang="en-PK" sz="1500" b="0" strike="noStrike" spc="-1">
                <a:solidFill>
                  <a:srgbClr val="0284C7"/>
                </a:solidFill>
                <a:latin typeface="Inter Medium"/>
              </a:rPr>
              <a:t>Centralized Multi-Site Inventory, Production &amp; RAG AI Management System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0"/>
          <p:cNvSpPr/>
          <p:nvPr/>
        </p:nvSpPr>
        <p:spPr>
          <a:xfrm>
            <a:off x="952560" y="4709160"/>
            <a:ext cx="33904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Muhammad Abdullah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PK" sz="1050" b="0" strike="noStrike" spc="-1">
                <a:solidFill>
                  <a:srgbClr val="64748B"/>
                </a:solidFill>
                <a:latin typeface="Inter"/>
              </a:rPr>
              <a:t>abdullahwasavailable@gmail.com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47"/>
          <p:cNvSpPr/>
          <p:nvPr/>
        </p:nvSpPr>
        <p:spPr>
          <a:xfrm>
            <a:off x="4343040" y="4709160"/>
            <a:ext cx="33904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Abubakar Ali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PK" sz="1050" b="0" strike="noStrike" spc="-1">
                <a:solidFill>
                  <a:srgbClr val="64748B"/>
                </a:solidFill>
                <a:latin typeface="Inter"/>
              </a:rPr>
              <a:t>ali.prince.x786@gmail.com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50"/>
          <p:cNvSpPr/>
          <p:nvPr/>
        </p:nvSpPr>
        <p:spPr>
          <a:xfrm>
            <a:off x="7733520" y="4709160"/>
            <a:ext cx="33904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Ali Akbar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PK" sz="1050" b="0" strike="noStrike" spc="-1">
                <a:solidFill>
                  <a:srgbClr val="64748B"/>
                </a:solidFill>
                <a:latin typeface="Inter"/>
              </a:rPr>
              <a:t>aliakbar0089@gmail.com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3"/>
          <p:cNvSpPr/>
          <p:nvPr/>
        </p:nvSpPr>
        <p:spPr>
          <a:xfrm>
            <a:off x="914040" y="5326200"/>
            <a:ext cx="33904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Fareha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US" sz="1050" b="0" strike="noStrike" spc="-1">
                <a:solidFill>
                  <a:srgbClr val="64748B"/>
                </a:solidFill>
                <a:latin typeface="Inter"/>
              </a:rPr>
              <a:t>farehaamir152@gmail.com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54"/>
          <p:cNvSpPr/>
          <p:nvPr/>
        </p:nvSpPr>
        <p:spPr>
          <a:xfrm>
            <a:off x="4343040" y="5257800"/>
            <a:ext cx="33904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Syeda Masooma Batool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PK" sz="1050" b="0" strike="noStrike" spc="-1">
                <a:solidFill>
                  <a:srgbClr val="64748B"/>
                </a:solidFill>
                <a:latin typeface="Inter"/>
              </a:rPr>
              <a:t>masoomabatool212@gmail.com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5"/>
          <p:cNvSpPr/>
          <p:nvPr/>
        </p:nvSpPr>
        <p:spPr>
          <a:xfrm>
            <a:off x="761760" y="3317760"/>
            <a:ext cx="586728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200" b="1" strike="noStrike" spc="-1">
                <a:solidFill>
                  <a:srgbClr val="0F172A"/>
                </a:solidFill>
                <a:latin typeface="Inter"/>
              </a:rPr>
              <a:t>Project Type</a:t>
            </a:r>
            <a:r>
              <a:rPr lang="en-PK" sz="120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PK" sz="1200" b="0" strike="noStrike" spc="-1">
                <a:solidFill>
                  <a:srgbClr val="64748B"/>
                </a:solidFill>
                <a:latin typeface="Inter"/>
              </a:rPr>
              <a:t>Healthcare Tech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Picture 5" descr="Pak Angels | LinkedIn"/>
          <p:cNvPicPr/>
          <p:nvPr/>
        </p:nvPicPr>
        <p:blipFill>
          <a:blip r:embed="rId6"/>
          <a:srcRect t="30641" b="31378"/>
          <a:stretch/>
        </p:blipFill>
        <p:spPr>
          <a:xfrm>
            <a:off x="761760" y="876240"/>
            <a:ext cx="2597400" cy="856800"/>
          </a:xfrm>
          <a:prstGeom prst="rect">
            <a:avLst/>
          </a:prstGeom>
          <a:ln w="0">
            <a:noFill/>
          </a:ln>
        </p:spPr>
      </p:pic>
      <p:sp>
        <p:nvSpPr>
          <p:cNvPr id="81" name="TextBox 56"/>
          <p:cNvSpPr/>
          <p:nvPr/>
        </p:nvSpPr>
        <p:spPr>
          <a:xfrm>
            <a:off x="879480" y="4114800"/>
            <a:ext cx="3463560" cy="31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75"/>
              </a:lnSpc>
            </a:pPr>
            <a:r>
              <a:rPr lang="en-US" sz="1650" b="1" u="sng" strike="noStrike" spc="-1">
                <a:solidFill>
                  <a:schemeClr val="dk1"/>
                </a:solidFill>
                <a:uFillTx/>
                <a:latin typeface="Inter Medium"/>
              </a:rPr>
              <a:t>TEAM MEMBERS: 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1E1B17EE-A241-DBE4-A4D3-B4987C39D7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717600" y="60626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3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20"/>
          <p:cNvSpPr/>
          <p:nvPr/>
        </p:nvSpPr>
        <p:spPr>
          <a:xfrm>
            <a:off x="2998800" y="2745000"/>
            <a:ext cx="63792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142B49"/>
                </a:solidFill>
                <a:latin typeface="Aptos Display"/>
              </a:rPr>
              <a:t>INTRODUCTION 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4" descr="image.png"/>
          <p:cNvPicPr/>
          <p:nvPr/>
        </p:nvPicPr>
        <p:blipFill>
          <a:blip r:embed="rId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12" descr="image.png"/>
          <p:cNvPicPr/>
          <p:nvPr/>
        </p:nvPicPr>
        <p:blipFill>
          <a:blip r:embed="rId5"/>
          <a:stretch/>
        </p:blipFill>
        <p:spPr>
          <a:xfrm>
            <a:off x="6229080" y="2043000"/>
            <a:ext cx="5486040" cy="4433400"/>
          </a:xfrm>
          <a:prstGeom prst="rect">
            <a:avLst/>
          </a:prstGeom>
          <a:ln w="0">
            <a:noFill/>
          </a:ln>
        </p:spPr>
      </p:pic>
      <p:pic>
        <p:nvPicPr>
          <p:cNvPr id="86" name="Picture 13" descr="image.png"/>
          <p:cNvPicPr/>
          <p:nvPr/>
        </p:nvPicPr>
        <p:blipFill>
          <a:blip r:embed="rId6"/>
          <a:stretch/>
        </p:blipFill>
        <p:spPr>
          <a:xfrm>
            <a:off x="676080" y="4181400"/>
            <a:ext cx="5086080" cy="209520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17" descr="image.png"/>
          <p:cNvPicPr/>
          <p:nvPr/>
        </p:nvPicPr>
        <p:blipFill>
          <a:blip r:embed="rId7"/>
          <a:stretch/>
        </p:blipFill>
        <p:spPr>
          <a:xfrm>
            <a:off x="6428880" y="2728800"/>
            <a:ext cx="5086080" cy="1380600"/>
          </a:xfrm>
          <a:prstGeom prst="rect">
            <a:avLst/>
          </a:prstGeom>
          <a:ln w="0">
            <a:noFill/>
          </a:ln>
        </p:spPr>
      </p:pic>
      <p:pic>
        <p:nvPicPr>
          <p:cNvPr id="88" name="Picture 21" descr="image.png"/>
          <p:cNvPicPr/>
          <p:nvPr/>
        </p:nvPicPr>
        <p:blipFill>
          <a:blip r:embed="rId8"/>
          <a:stretch/>
        </p:blipFill>
        <p:spPr>
          <a:xfrm>
            <a:off x="6428880" y="4224240"/>
            <a:ext cx="5086080" cy="1380600"/>
          </a:xfrm>
          <a:prstGeom prst="rect">
            <a:avLst/>
          </a:prstGeom>
          <a:ln w="0">
            <a:noFill/>
          </a:ln>
        </p:spPr>
      </p:pic>
      <p:sp>
        <p:nvSpPr>
          <p:cNvPr id="89" name="Rectangle 67"/>
          <p:cNvSpPr/>
          <p:nvPr/>
        </p:nvSpPr>
        <p:spPr>
          <a:xfrm>
            <a:off x="475920" y="1280880"/>
            <a:ext cx="11238840" cy="799920"/>
          </a:xfrm>
          <a:prstGeom prst="rect">
            <a:avLst/>
          </a:prstGeom>
          <a:solidFill>
            <a:srgbClr val="F1F5F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72"/>
          <p:cNvSpPr/>
          <p:nvPr/>
        </p:nvSpPr>
        <p:spPr>
          <a:xfrm>
            <a:off x="685800" y="1428480"/>
            <a:ext cx="10933920" cy="17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0" strike="noStrike" spc="-1">
                <a:solidFill>
                  <a:srgbClr val="334155"/>
                </a:solidFill>
                <a:latin typeface="Lato SemiBold"/>
              </a:rPr>
              <a:t>Business Model: Import Equipment &amp; Consumables → Hospital Placement → Synthesizer Dose Production → PET Scan Cancer Diagnosis</a:t>
            </a:r>
            <a:endParaRPr lang="en-US" sz="1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68"/>
          <p:cNvSpPr/>
          <p:nvPr/>
        </p:nvSpPr>
        <p:spPr>
          <a:xfrm>
            <a:off x="475920" y="1388880"/>
            <a:ext cx="37800" cy="361440"/>
          </a:xfrm>
          <a:prstGeom prst="rect">
            <a:avLst/>
          </a:prstGeom>
          <a:solidFill>
            <a:srgbClr val="0284C7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73"/>
          <p:cNvSpPr/>
          <p:nvPr/>
        </p:nvSpPr>
        <p:spPr>
          <a:xfrm>
            <a:off x="676080" y="2614680"/>
            <a:ext cx="508608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630"/>
              </a:lnSpc>
            </a:pPr>
            <a:r>
              <a:rPr lang="en-US" sz="1130" b="0" strike="noStrike" spc="-1">
                <a:solidFill>
                  <a:srgbClr val="334155"/>
                </a:solidFill>
                <a:latin typeface="Lato"/>
              </a:rPr>
              <a:t>The company imports advanced synthesis modules and places them directly at client hospital sites (e.g., AKUH, DUHS, JPMC) to produce radioisotopes on-demand.</a:t>
            </a:r>
            <a:endParaRPr lang="en-US" sz="113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40" descr="image.png"/>
          <p:cNvPicPr/>
          <p:nvPr/>
        </p:nvPicPr>
        <p:blipFill>
          <a:blip r:embed="rId9"/>
          <a:stretch/>
        </p:blipFill>
        <p:spPr>
          <a:xfrm>
            <a:off x="6428880" y="2276640"/>
            <a:ext cx="237600" cy="190080"/>
          </a:xfrm>
          <a:prstGeom prst="rect">
            <a:avLst/>
          </a:prstGeom>
          <a:ln w="0">
            <a:noFill/>
          </a:ln>
        </p:spPr>
      </p:pic>
      <p:sp>
        <p:nvSpPr>
          <p:cNvPr id="94" name="TextBox 74"/>
          <p:cNvSpPr/>
          <p:nvPr/>
        </p:nvSpPr>
        <p:spPr>
          <a:xfrm>
            <a:off x="6762240" y="2243160"/>
            <a:ext cx="306000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strike="noStrike" spc="-1">
                <a:solidFill>
                  <a:srgbClr val="0F172A"/>
                </a:solidFill>
                <a:latin typeface="Poppins"/>
              </a:rPr>
              <a:t>Imported Consumable Kit Specs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75"/>
          <p:cNvSpPr/>
          <p:nvPr/>
        </p:nvSpPr>
        <p:spPr>
          <a:xfrm>
            <a:off x="8143200" y="2887920"/>
            <a:ext cx="312372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0369A1"/>
                </a:solidFill>
                <a:latin typeface="Lato"/>
              </a:rPr>
              <a:t> Max 2 Production Runs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76"/>
          <p:cNvSpPr/>
          <p:nvPr/>
        </p:nvSpPr>
        <p:spPr>
          <a:xfrm>
            <a:off x="8229240" y="4413240"/>
            <a:ext cx="312372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15803D"/>
                </a:solidFill>
                <a:latin typeface="Lato"/>
              </a:rPr>
              <a:t> Max 4 Production Runs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Picture 41" descr="image.png"/>
          <p:cNvPicPr/>
          <p:nvPr/>
        </p:nvPicPr>
        <p:blipFill>
          <a:blip r:embed="rId10"/>
          <a:stretch/>
        </p:blipFill>
        <p:spPr>
          <a:xfrm>
            <a:off x="676080" y="2276640"/>
            <a:ext cx="218880" cy="190080"/>
          </a:xfrm>
          <a:prstGeom prst="rect">
            <a:avLst/>
          </a:prstGeom>
          <a:ln w="0">
            <a:noFill/>
          </a:ln>
        </p:spPr>
      </p:pic>
      <p:sp>
        <p:nvSpPr>
          <p:cNvPr id="98" name="TextBox 77"/>
          <p:cNvSpPr/>
          <p:nvPr/>
        </p:nvSpPr>
        <p:spPr>
          <a:xfrm>
            <a:off x="990360" y="2243160"/>
            <a:ext cx="31399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strike="noStrike" spc="-1">
                <a:solidFill>
                  <a:srgbClr val="0F172A"/>
                </a:solidFill>
                <a:latin typeface="Poppins"/>
              </a:rPr>
              <a:t>Equipment &amp; Hospital Placement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78"/>
          <p:cNvSpPr/>
          <p:nvPr/>
        </p:nvSpPr>
        <p:spPr>
          <a:xfrm>
            <a:off x="894960" y="3319200"/>
            <a:ext cx="4866840" cy="41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ts val="1630"/>
              </a:lnSpc>
            </a:pPr>
            <a:r>
              <a:rPr lang="en-US" sz="1130" b="1" strike="noStrike" spc="-1">
                <a:solidFill>
                  <a:srgbClr val="334155"/>
                </a:solidFill>
                <a:latin typeface="Lato"/>
              </a:rPr>
              <a:t>ABT Synthesizers:</a:t>
            </a:r>
            <a:r>
              <a:rPr lang="en-US" sz="1130" b="0" strike="noStrike" spc="-1">
                <a:solidFill>
                  <a:srgbClr val="334155"/>
                </a:solidFill>
                <a:latin typeface="Lato"/>
              </a:rPr>
              <a:t> Lower yield / targeted dose output per production run.</a:t>
            </a:r>
            <a:endParaRPr lang="en-US" sz="1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79"/>
          <p:cNvSpPr/>
          <p:nvPr/>
        </p:nvSpPr>
        <p:spPr>
          <a:xfrm>
            <a:off x="914400" y="3767400"/>
            <a:ext cx="4847760" cy="41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ts val="1630"/>
              </a:lnSpc>
            </a:pPr>
            <a:r>
              <a:rPr lang="en-US" sz="1130" b="1" strike="noStrike" spc="-1">
                <a:solidFill>
                  <a:srgbClr val="334155"/>
                </a:solidFill>
                <a:latin typeface="Lato"/>
              </a:rPr>
              <a:t>Trasis Synthesizers:</a:t>
            </a:r>
            <a:r>
              <a:rPr lang="en-US" sz="1130" b="0" strike="noStrike" spc="-1">
                <a:solidFill>
                  <a:srgbClr val="334155"/>
                </a:solidFill>
                <a:latin typeface="Lato"/>
              </a:rPr>
              <a:t> High capacity batch synthesis for multiple patient scans.</a:t>
            </a:r>
            <a:endParaRPr lang="en-US" sz="113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42" descr="image.png"/>
          <p:cNvPicPr/>
          <p:nvPr/>
        </p:nvPicPr>
        <p:blipFill>
          <a:blip r:embed="rId11"/>
          <a:stretch/>
        </p:blipFill>
        <p:spPr>
          <a:xfrm>
            <a:off x="6590880" y="2871720"/>
            <a:ext cx="1552320" cy="199800"/>
          </a:xfrm>
          <a:prstGeom prst="rect">
            <a:avLst/>
          </a:prstGeom>
          <a:ln w="0">
            <a:noFill/>
          </a:ln>
        </p:spPr>
      </p:pic>
      <p:sp>
        <p:nvSpPr>
          <p:cNvPr id="102" name="TextBox 80"/>
          <p:cNvSpPr/>
          <p:nvPr/>
        </p:nvSpPr>
        <p:spPr>
          <a:xfrm>
            <a:off x="6733800" y="322632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(12759) FDG-DUAL Cassette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81"/>
          <p:cNvSpPr/>
          <p:nvPr/>
        </p:nvSpPr>
        <p:spPr>
          <a:xfrm>
            <a:off x="9172080" y="3226320"/>
            <a:ext cx="2180880" cy="137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(15115) Reagent Part 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82"/>
          <p:cNvSpPr/>
          <p:nvPr/>
        </p:nvSpPr>
        <p:spPr>
          <a:xfrm>
            <a:off x="6733800" y="342648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(15115) Part II Mannose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83"/>
          <p:cNvSpPr/>
          <p:nvPr/>
        </p:nvSpPr>
        <p:spPr>
          <a:xfrm>
            <a:off x="9172080" y="342648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(15115) Part II WFI 1000ml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84"/>
          <p:cNvSpPr/>
          <p:nvPr/>
        </p:nvSpPr>
        <p:spPr>
          <a:xfrm>
            <a:off x="6733800" y="362628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(12144) Venting Filter + Needle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85"/>
          <p:cNvSpPr/>
          <p:nvPr/>
        </p:nvSpPr>
        <p:spPr>
          <a:xfrm>
            <a:off x="9172080" y="362628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(1785) 0.22µm Sterilizing Filter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86"/>
          <p:cNvSpPr/>
          <p:nvPr/>
        </p:nvSpPr>
        <p:spPr>
          <a:xfrm>
            <a:off x="6733800" y="382644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(11665) 25ml Sterile Vial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87"/>
          <p:cNvSpPr/>
          <p:nvPr/>
        </p:nvSpPr>
        <p:spPr>
          <a:xfrm>
            <a:off x="9172080" y="382644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(2132) BBraun Sampling Spike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43" descr="image.png"/>
          <p:cNvPicPr/>
          <p:nvPr/>
        </p:nvPicPr>
        <p:blipFill>
          <a:blip r:embed="rId12"/>
          <a:stretch/>
        </p:blipFill>
        <p:spPr>
          <a:xfrm>
            <a:off x="6590880" y="4367160"/>
            <a:ext cx="1590480" cy="199800"/>
          </a:xfrm>
          <a:prstGeom prst="rect">
            <a:avLst/>
          </a:prstGeom>
          <a:ln w="0">
            <a:noFill/>
          </a:ln>
        </p:spPr>
      </p:pic>
      <p:sp>
        <p:nvSpPr>
          <p:cNvPr id="111" name="TextBox 88"/>
          <p:cNvSpPr/>
          <p:nvPr/>
        </p:nvSpPr>
        <p:spPr>
          <a:xfrm>
            <a:off x="6733800" y="472176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(12759) FDG-QUAD Cassette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89"/>
          <p:cNvSpPr/>
          <p:nvPr/>
        </p:nvSpPr>
        <p:spPr>
          <a:xfrm>
            <a:off x="9172080" y="472176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(14225) Reagent Part 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90"/>
          <p:cNvSpPr/>
          <p:nvPr/>
        </p:nvSpPr>
        <p:spPr>
          <a:xfrm>
            <a:off x="6733800" y="492192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(14225) Part II Mannose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91"/>
          <p:cNvSpPr/>
          <p:nvPr/>
        </p:nvSpPr>
        <p:spPr>
          <a:xfrm>
            <a:off x="9172080" y="492192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(14225) Part II WFI 1000ml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92"/>
          <p:cNvSpPr/>
          <p:nvPr/>
        </p:nvSpPr>
        <p:spPr>
          <a:xfrm>
            <a:off x="6733800" y="512172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(12144) Venting Filter + Needle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93"/>
          <p:cNvSpPr/>
          <p:nvPr/>
        </p:nvSpPr>
        <p:spPr>
          <a:xfrm>
            <a:off x="9172080" y="512172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(1785) 0.22µm Sterilizing Filter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94"/>
          <p:cNvSpPr/>
          <p:nvPr/>
        </p:nvSpPr>
        <p:spPr>
          <a:xfrm>
            <a:off x="6733800" y="532188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(11665) 25ml Sterile Vial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95"/>
          <p:cNvSpPr/>
          <p:nvPr/>
        </p:nvSpPr>
        <p:spPr>
          <a:xfrm>
            <a:off x="9172080" y="5321880"/>
            <a:ext cx="2180880" cy="1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475569"/>
                </a:solidFill>
                <a:latin typeface="Lato"/>
              </a:rPr>
              <a:t>(2132) BBraun Sampling Spike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44" descr="image.png"/>
          <p:cNvPicPr/>
          <p:nvPr/>
        </p:nvPicPr>
        <p:blipFill>
          <a:blip r:embed="rId13"/>
          <a:stretch/>
        </p:blipFill>
        <p:spPr>
          <a:xfrm>
            <a:off x="6590880" y="324792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45" descr="image.png"/>
          <p:cNvPicPr/>
          <p:nvPr/>
        </p:nvPicPr>
        <p:blipFill>
          <a:blip r:embed="rId13"/>
          <a:stretch/>
        </p:blipFill>
        <p:spPr>
          <a:xfrm>
            <a:off x="9029520" y="324792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46" descr="image.png"/>
          <p:cNvPicPr/>
          <p:nvPr/>
        </p:nvPicPr>
        <p:blipFill>
          <a:blip r:embed="rId13"/>
          <a:stretch/>
        </p:blipFill>
        <p:spPr>
          <a:xfrm>
            <a:off x="6590880" y="344808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47" descr="image.png"/>
          <p:cNvPicPr/>
          <p:nvPr/>
        </p:nvPicPr>
        <p:blipFill>
          <a:blip r:embed="rId13"/>
          <a:stretch/>
        </p:blipFill>
        <p:spPr>
          <a:xfrm>
            <a:off x="9029520" y="344808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48" descr="image.png"/>
          <p:cNvPicPr/>
          <p:nvPr/>
        </p:nvPicPr>
        <p:blipFill>
          <a:blip r:embed="rId13"/>
          <a:stretch/>
        </p:blipFill>
        <p:spPr>
          <a:xfrm>
            <a:off x="6590880" y="364824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49" descr="image.png"/>
          <p:cNvPicPr/>
          <p:nvPr/>
        </p:nvPicPr>
        <p:blipFill>
          <a:blip r:embed="rId13"/>
          <a:stretch/>
        </p:blipFill>
        <p:spPr>
          <a:xfrm>
            <a:off x="9029520" y="364824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5" name="Picture 50" descr="image.png"/>
          <p:cNvPicPr/>
          <p:nvPr/>
        </p:nvPicPr>
        <p:blipFill>
          <a:blip r:embed="rId13"/>
          <a:stretch/>
        </p:blipFill>
        <p:spPr>
          <a:xfrm>
            <a:off x="6590880" y="384804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51" descr="image.png"/>
          <p:cNvPicPr/>
          <p:nvPr/>
        </p:nvPicPr>
        <p:blipFill>
          <a:blip r:embed="rId13"/>
          <a:stretch/>
        </p:blipFill>
        <p:spPr>
          <a:xfrm>
            <a:off x="9029520" y="384804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52" descr="image.png"/>
          <p:cNvPicPr/>
          <p:nvPr/>
        </p:nvPicPr>
        <p:blipFill>
          <a:blip r:embed="rId13"/>
          <a:stretch/>
        </p:blipFill>
        <p:spPr>
          <a:xfrm>
            <a:off x="6590880" y="474336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53" descr="image.png"/>
          <p:cNvPicPr/>
          <p:nvPr/>
        </p:nvPicPr>
        <p:blipFill>
          <a:blip r:embed="rId13"/>
          <a:stretch/>
        </p:blipFill>
        <p:spPr>
          <a:xfrm>
            <a:off x="9029520" y="474336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54" descr="image.png"/>
          <p:cNvPicPr/>
          <p:nvPr/>
        </p:nvPicPr>
        <p:blipFill>
          <a:blip r:embed="rId13"/>
          <a:stretch/>
        </p:blipFill>
        <p:spPr>
          <a:xfrm>
            <a:off x="6590880" y="494352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55" descr="image.png"/>
          <p:cNvPicPr/>
          <p:nvPr/>
        </p:nvPicPr>
        <p:blipFill>
          <a:blip r:embed="rId13"/>
          <a:stretch/>
        </p:blipFill>
        <p:spPr>
          <a:xfrm>
            <a:off x="9029520" y="494352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56" descr="image.png"/>
          <p:cNvPicPr/>
          <p:nvPr/>
        </p:nvPicPr>
        <p:blipFill>
          <a:blip r:embed="rId13"/>
          <a:stretch/>
        </p:blipFill>
        <p:spPr>
          <a:xfrm>
            <a:off x="6590880" y="514368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57" descr="image.png"/>
          <p:cNvPicPr/>
          <p:nvPr/>
        </p:nvPicPr>
        <p:blipFill>
          <a:blip r:embed="rId13"/>
          <a:stretch/>
        </p:blipFill>
        <p:spPr>
          <a:xfrm>
            <a:off x="9029520" y="514368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58" descr="image.png"/>
          <p:cNvPicPr/>
          <p:nvPr/>
        </p:nvPicPr>
        <p:blipFill>
          <a:blip r:embed="rId13"/>
          <a:stretch/>
        </p:blipFill>
        <p:spPr>
          <a:xfrm>
            <a:off x="6590880" y="534348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59" descr="image.png"/>
          <p:cNvPicPr/>
          <p:nvPr/>
        </p:nvPicPr>
        <p:blipFill>
          <a:blip r:embed="rId13"/>
          <a:stretch/>
        </p:blipFill>
        <p:spPr>
          <a:xfrm>
            <a:off x="9029520" y="5343480"/>
            <a:ext cx="85320" cy="9504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60" descr="image.png"/>
          <p:cNvPicPr/>
          <p:nvPr/>
        </p:nvPicPr>
        <p:blipFill>
          <a:blip r:embed="rId14"/>
          <a:stretch/>
        </p:blipFill>
        <p:spPr>
          <a:xfrm>
            <a:off x="676080" y="3382560"/>
            <a:ext cx="142560" cy="14256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61" descr="image.png"/>
          <p:cNvPicPr/>
          <p:nvPr/>
        </p:nvPicPr>
        <p:blipFill>
          <a:blip r:embed="rId15"/>
          <a:stretch/>
        </p:blipFill>
        <p:spPr>
          <a:xfrm>
            <a:off x="676080" y="3877560"/>
            <a:ext cx="161640" cy="142560"/>
          </a:xfrm>
          <a:prstGeom prst="rect">
            <a:avLst/>
          </a:prstGeom>
          <a:ln w="0">
            <a:noFill/>
          </a:ln>
        </p:spPr>
      </p:pic>
      <p:sp>
        <p:nvSpPr>
          <p:cNvPr id="137" name="TextBox 96"/>
          <p:cNvSpPr/>
          <p:nvPr/>
        </p:nvSpPr>
        <p:spPr>
          <a:xfrm>
            <a:off x="457200" y="660600"/>
            <a:ext cx="1171512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strike="noStrike" spc="-1">
                <a:solidFill>
                  <a:srgbClr val="0F172A"/>
                </a:solidFill>
                <a:latin typeface="Poppins SemiBold"/>
              </a:rPr>
              <a:t>Background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Picture 137"/>
          <p:cNvPicPr/>
          <p:nvPr/>
        </p:nvPicPr>
        <p:blipFill>
          <a:blip r:embed="rId16"/>
          <a:stretch/>
        </p:blipFill>
        <p:spPr>
          <a:xfrm>
            <a:off x="1143000" y="3895920"/>
            <a:ext cx="4800600" cy="3305520"/>
          </a:xfrm>
          <a:prstGeom prst="rect">
            <a:avLst/>
          </a:prstGeom>
          <a:ln w="0">
            <a:noFill/>
          </a:ln>
        </p:spPr>
      </p:pic>
      <p:pic>
        <p:nvPicPr>
          <p:cNvPr id="15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DE9853C-0DFA-A459-3579-ED13651A23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330140" y="615568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52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32"/>
          <p:cNvSpPr/>
          <p:nvPr/>
        </p:nvSpPr>
        <p:spPr>
          <a:xfrm>
            <a:off x="4123800" y="2745000"/>
            <a:ext cx="412992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142B49"/>
                </a:solidFill>
                <a:latin typeface="Aptos Display"/>
              </a:rPr>
              <a:t>PROBLEM 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7" descr="image.png"/>
          <p:cNvPicPr/>
          <p:nvPr/>
        </p:nvPicPr>
        <p:blipFill>
          <a:blip r:embed="rId6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8" descr="image.png"/>
          <p:cNvPicPr/>
          <p:nvPr/>
        </p:nvPicPr>
        <p:blipFill>
          <a:blip r:embed="rId7"/>
          <a:stretch/>
        </p:blipFill>
        <p:spPr>
          <a:xfrm>
            <a:off x="475920" y="2782800"/>
            <a:ext cx="2588040" cy="1332000"/>
          </a:xfrm>
          <a:prstGeom prst="rect">
            <a:avLst/>
          </a:prstGeom>
          <a:ln w="0">
            <a:noFill/>
          </a:ln>
        </p:spPr>
      </p:pic>
      <p:pic>
        <p:nvPicPr>
          <p:cNvPr id="142" name="Picture 18" descr="image.png"/>
          <p:cNvPicPr/>
          <p:nvPr/>
        </p:nvPicPr>
        <p:blipFill>
          <a:blip r:embed="rId8"/>
          <a:stretch/>
        </p:blipFill>
        <p:spPr>
          <a:xfrm>
            <a:off x="3359520" y="2708640"/>
            <a:ext cx="2588040" cy="140616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22" descr="image.png"/>
          <p:cNvPicPr/>
          <p:nvPr/>
        </p:nvPicPr>
        <p:blipFill>
          <a:blip r:embed="rId9"/>
          <a:stretch/>
        </p:blipFill>
        <p:spPr>
          <a:xfrm>
            <a:off x="6243120" y="2708640"/>
            <a:ext cx="2588040" cy="140616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23" descr="image.png"/>
          <p:cNvPicPr/>
          <p:nvPr/>
        </p:nvPicPr>
        <p:blipFill>
          <a:blip r:embed="rId10"/>
          <a:stretch/>
        </p:blipFill>
        <p:spPr>
          <a:xfrm>
            <a:off x="9127080" y="2708640"/>
            <a:ext cx="2588040" cy="140616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27" descr="image.png"/>
          <p:cNvPicPr/>
          <p:nvPr/>
        </p:nvPicPr>
        <p:blipFill>
          <a:blip r:embed="rId11"/>
          <a:stretch/>
        </p:blipFill>
        <p:spPr>
          <a:xfrm>
            <a:off x="475920" y="5267160"/>
            <a:ext cx="3644280" cy="120924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28" descr="image.png"/>
          <p:cNvPicPr/>
          <p:nvPr/>
        </p:nvPicPr>
        <p:blipFill>
          <a:blip r:embed="rId12"/>
          <a:stretch/>
        </p:blipFill>
        <p:spPr>
          <a:xfrm>
            <a:off x="4273200" y="5267160"/>
            <a:ext cx="3644640" cy="120924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35" descr="image.png"/>
          <p:cNvPicPr/>
          <p:nvPr/>
        </p:nvPicPr>
        <p:blipFill>
          <a:blip r:embed="rId13"/>
          <a:stretch/>
        </p:blipFill>
        <p:spPr>
          <a:xfrm>
            <a:off x="8070480" y="5267160"/>
            <a:ext cx="3644280" cy="1209240"/>
          </a:xfrm>
          <a:prstGeom prst="rect">
            <a:avLst/>
          </a:prstGeom>
          <a:ln w="0">
            <a:noFill/>
          </a:ln>
        </p:spPr>
      </p:pic>
      <p:sp>
        <p:nvSpPr>
          <p:cNvPr id="148" name="Rectangle 69"/>
          <p:cNvSpPr/>
          <p:nvPr/>
        </p:nvSpPr>
        <p:spPr>
          <a:xfrm>
            <a:off x="475920" y="1028880"/>
            <a:ext cx="11238840" cy="799920"/>
          </a:xfrm>
          <a:prstGeom prst="rect">
            <a:avLst/>
          </a:prstGeom>
          <a:solidFill>
            <a:srgbClr val="FFF5F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97"/>
          <p:cNvSpPr/>
          <p:nvPr/>
        </p:nvSpPr>
        <p:spPr>
          <a:xfrm>
            <a:off x="916920" y="1123920"/>
            <a:ext cx="1028664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0" strike="noStrike" spc="-1" dirty="0">
                <a:solidFill>
                  <a:srgbClr val="334155"/>
                </a:solidFill>
                <a:latin typeface="Lato SemiBold"/>
              </a:rPr>
              <a:t>Current Challenge: Isolated departmental tools (Excel, WhatsApp, Paper) create blind spots, inventory mismatches, &amp; untracked patient dose risks.</a:t>
            </a:r>
            <a:endParaRPr lang="en-US" sz="113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70"/>
          <p:cNvSpPr/>
          <p:nvPr/>
        </p:nvSpPr>
        <p:spPr>
          <a:xfrm>
            <a:off x="475920" y="1028880"/>
            <a:ext cx="209520" cy="34272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1" name="Picture 36" descr="image.png"/>
          <p:cNvPicPr/>
          <p:nvPr/>
        </p:nvPicPr>
        <p:blipFill>
          <a:blip r:embed="rId14"/>
          <a:stretch/>
        </p:blipFill>
        <p:spPr>
          <a:xfrm>
            <a:off x="738360" y="1143000"/>
            <a:ext cx="142560" cy="142560"/>
          </a:xfrm>
          <a:prstGeom prst="rect">
            <a:avLst/>
          </a:prstGeom>
          <a:ln w="0">
            <a:noFill/>
          </a:ln>
        </p:spPr>
      </p:pic>
      <p:pic>
        <p:nvPicPr>
          <p:cNvPr id="152" name="Picture 37" descr="image.png"/>
          <p:cNvPicPr/>
          <p:nvPr/>
        </p:nvPicPr>
        <p:blipFill>
          <a:blip r:embed="rId15"/>
          <a:stretch/>
        </p:blipFill>
        <p:spPr>
          <a:xfrm>
            <a:off x="1665360" y="2940120"/>
            <a:ext cx="209160" cy="209160"/>
          </a:xfrm>
          <a:prstGeom prst="rect">
            <a:avLst/>
          </a:prstGeom>
          <a:ln w="0">
            <a:noFill/>
          </a:ln>
        </p:spPr>
      </p:pic>
      <p:sp>
        <p:nvSpPr>
          <p:cNvPr id="153" name="TextBox 98"/>
          <p:cNvSpPr/>
          <p:nvPr/>
        </p:nvSpPr>
        <p:spPr>
          <a:xfrm>
            <a:off x="551160" y="3206520"/>
            <a:ext cx="243756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0F172A"/>
                </a:solidFill>
                <a:latin typeface="Poppins"/>
              </a:rPr>
              <a:t>Warehouse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99"/>
          <p:cNvSpPr/>
          <p:nvPr/>
        </p:nvSpPr>
        <p:spPr>
          <a:xfrm>
            <a:off x="609120" y="3444840"/>
            <a:ext cx="2321280" cy="14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1" strike="noStrike" spc="-1">
                <a:solidFill>
                  <a:srgbClr val="64748B"/>
                </a:solidFill>
                <a:latin typeface="Lato"/>
              </a:rPr>
              <a:t>Tool:</a:t>
            </a: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 Central Excel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00"/>
          <p:cNvSpPr/>
          <p:nvPr/>
        </p:nvSpPr>
        <p:spPr>
          <a:xfrm>
            <a:off x="609120" y="3593160"/>
            <a:ext cx="232128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Logs dispatch of 10 kits based on hospital POs.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6" name="Picture 38" descr="image.png"/>
          <p:cNvPicPr/>
          <p:nvPr/>
        </p:nvPicPr>
        <p:blipFill>
          <a:blip r:embed="rId16"/>
          <a:stretch/>
        </p:blipFill>
        <p:spPr>
          <a:xfrm>
            <a:off x="3159720" y="3262320"/>
            <a:ext cx="104400" cy="17100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39" descr="image.png"/>
          <p:cNvPicPr/>
          <p:nvPr/>
        </p:nvPicPr>
        <p:blipFill>
          <a:blip r:embed="rId17"/>
          <a:stretch/>
        </p:blipFill>
        <p:spPr>
          <a:xfrm>
            <a:off x="4548960" y="2865600"/>
            <a:ext cx="209160" cy="209160"/>
          </a:xfrm>
          <a:prstGeom prst="rect">
            <a:avLst/>
          </a:prstGeom>
          <a:ln w="0">
            <a:noFill/>
          </a:ln>
        </p:spPr>
      </p:pic>
      <p:sp>
        <p:nvSpPr>
          <p:cNvPr id="158" name="TextBox 101"/>
          <p:cNvSpPr/>
          <p:nvPr/>
        </p:nvSpPr>
        <p:spPr>
          <a:xfrm>
            <a:off x="3434760" y="3132360"/>
            <a:ext cx="243756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0F172A"/>
                </a:solidFill>
                <a:latin typeface="Poppins"/>
              </a:rPr>
              <a:t>Transfer &amp; Receiving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102"/>
          <p:cNvSpPr/>
          <p:nvPr/>
        </p:nvSpPr>
        <p:spPr>
          <a:xfrm>
            <a:off x="3493080" y="3370680"/>
            <a:ext cx="2321280" cy="14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1" strike="noStrike" spc="-1">
                <a:solidFill>
                  <a:srgbClr val="64748B"/>
                </a:solidFill>
                <a:latin typeface="Lato"/>
              </a:rPr>
              <a:t>Tool:</a:t>
            </a: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 WhatsApp / Email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103"/>
          <p:cNvSpPr/>
          <p:nvPr/>
        </p:nvSpPr>
        <p:spPr>
          <a:xfrm>
            <a:off x="3493080" y="3519000"/>
            <a:ext cx="232128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Hospital receives 9 kits; receipt confirmed via chat or DC.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" name="Picture 62" descr="image.png"/>
          <p:cNvPicPr/>
          <p:nvPr/>
        </p:nvPicPr>
        <p:blipFill>
          <a:blip r:embed="rId16"/>
          <a:stretch/>
        </p:blipFill>
        <p:spPr>
          <a:xfrm>
            <a:off x="6043320" y="3262320"/>
            <a:ext cx="104400" cy="17100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63" descr="image.png"/>
          <p:cNvPicPr/>
          <p:nvPr/>
        </p:nvPicPr>
        <p:blipFill>
          <a:blip r:embed="rId18"/>
          <a:stretch/>
        </p:blipFill>
        <p:spPr>
          <a:xfrm>
            <a:off x="7432560" y="2865600"/>
            <a:ext cx="209160" cy="209160"/>
          </a:xfrm>
          <a:prstGeom prst="rect">
            <a:avLst/>
          </a:prstGeom>
          <a:ln w="0">
            <a:noFill/>
          </a:ln>
        </p:spPr>
      </p:pic>
      <p:sp>
        <p:nvSpPr>
          <p:cNvPr id="163" name="TextBox 104"/>
          <p:cNvSpPr/>
          <p:nvPr/>
        </p:nvSpPr>
        <p:spPr>
          <a:xfrm>
            <a:off x="6318720" y="3132360"/>
            <a:ext cx="243756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0F172A"/>
                </a:solidFill>
                <a:latin typeface="Poppins"/>
              </a:rPr>
              <a:t>Hospital Production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05"/>
          <p:cNvSpPr/>
          <p:nvPr/>
        </p:nvSpPr>
        <p:spPr>
          <a:xfrm>
            <a:off x="6376680" y="3370680"/>
            <a:ext cx="2321280" cy="14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1" strike="noStrike" spc="-1">
                <a:solidFill>
                  <a:srgbClr val="64748B"/>
                </a:solidFill>
                <a:latin typeface="Lato"/>
              </a:rPr>
              <a:t>Tool:</a:t>
            </a: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 Site Excel &amp; Paper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06"/>
          <p:cNvSpPr/>
          <p:nvPr/>
        </p:nvSpPr>
        <p:spPr>
          <a:xfrm>
            <a:off x="6376680" y="3519000"/>
            <a:ext cx="2321280" cy="44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Engineer decrements run counts,downtime,kit utilization on ABT / Trasis manually.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Picture 64" descr="image.png"/>
          <p:cNvPicPr/>
          <p:nvPr/>
        </p:nvPicPr>
        <p:blipFill>
          <a:blip r:embed="rId19"/>
          <a:stretch/>
        </p:blipFill>
        <p:spPr>
          <a:xfrm>
            <a:off x="8926920" y="3262320"/>
            <a:ext cx="104400" cy="17100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65" descr="image.png"/>
          <p:cNvPicPr/>
          <p:nvPr/>
        </p:nvPicPr>
        <p:blipFill>
          <a:blip r:embed="rId20"/>
          <a:stretch/>
        </p:blipFill>
        <p:spPr>
          <a:xfrm>
            <a:off x="10316520" y="2865600"/>
            <a:ext cx="209160" cy="209160"/>
          </a:xfrm>
          <a:prstGeom prst="rect">
            <a:avLst/>
          </a:prstGeom>
          <a:ln w="0">
            <a:noFill/>
          </a:ln>
        </p:spPr>
      </p:pic>
      <p:sp>
        <p:nvSpPr>
          <p:cNvPr id="168" name="TextBox 107"/>
          <p:cNvSpPr/>
          <p:nvPr/>
        </p:nvSpPr>
        <p:spPr>
          <a:xfrm>
            <a:off x="9202320" y="3132360"/>
            <a:ext cx="243756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0F172A"/>
                </a:solidFill>
                <a:latin typeface="Poppins"/>
              </a:rPr>
              <a:t>Monthly Reconciliation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08"/>
          <p:cNvSpPr/>
          <p:nvPr/>
        </p:nvSpPr>
        <p:spPr>
          <a:xfrm>
            <a:off x="9260280" y="3370680"/>
            <a:ext cx="2321280" cy="14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1" strike="noStrike" spc="-1">
                <a:solidFill>
                  <a:srgbClr val="64748B"/>
                </a:solidFill>
                <a:latin typeface="Lato"/>
              </a:rPr>
              <a:t>Tool:</a:t>
            </a: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 Manual Copy-Paste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09"/>
          <p:cNvSpPr/>
          <p:nvPr/>
        </p:nvSpPr>
        <p:spPr>
          <a:xfrm>
            <a:off x="9260280" y="3519000"/>
            <a:ext cx="232128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3 different numbers for dispatched, received &amp; used kits.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110"/>
          <p:cNvSpPr/>
          <p:nvPr/>
        </p:nvSpPr>
        <p:spPr>
          <a:xfrm>
            <a:off x="828360" y="5429520"/>
            <a:ext cx="328644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991B1B"/>
                </a:solidFill>
                <a:latin typeface="Poppins"/>
              </a:rPr>
              <a:t>1. Manual Run Tracking Error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11"/>
          <p:cNvSpPr/>
          <p:nvPr/>
        </p:nvSpPr>
        <p:spPr>
          <a:xfrm>
            <a:off x="666360" y="5667480"/>
            <a:ext cx="329184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12"/>
              </a:lnSpc>
            </a:pPr>
            <a:r>
              <a:rPr lang="en-US" sz="939" b="0" strike="noStrike" spc="-1">
                <a:solidFill>
                  <a:srgbClr val="475569"/>
                </a:solidFill>
                <a:latin typeface="Lato"/>
              </a:rPr>
              <a:t>Engineer uses KIT-001 Quad (4 runs) on Trasis synthesizer but forgets to update Excel. Next shift assumes 4 runs remain, causing unexpected batch halt during patient PET scan preparation.</a:t>
            </a:r>
            <a:endParaRPr lang="en-US" sz="93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12"/>
          <p:cNvSpPr/>
          <p:nvPr/>
        </p:nvSpPr>
        <p:spPr>
          <a:xfrm>
            <a:off x="4654080" y="5429520"/>
            <a:ext cx="325692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991B1B"/>
                </a:solidFill>
                <a:latin typeface="Poppins"/>
              </a:rPr>
              <a:t>2. Defect &amp; Expiry Blindspot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13"/>
          <p:cNvSpPr/>
          <p:nvPr/>
        </p:nvSpPr>
        <p:spPr>
          <a:xfrm>
            <a:off x="4463640" y="5667480"/>
            <a:ext cx="329220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12"/>
              </a:lnSpc>
            </a:pPr>
            <a:r>
              <a:rPr lang="en-US" sz="939" b="0" strike="noStrike" spc="-1">
                <a:solidFill>
                  <a:srgbClr val="475569"/>
                </a:solidFill>
                <a:latin typeface="Lato"/>
              </a:rPr>
              <a:t>Hospital finds defective sterilizing filter on KIT-045 and reports on WhatsApp. Message gets buried. Meanwhile, KIT-002 Dual (WFI/Mannose) expires at AKUH without automated warning.</a:t>
            </a:r>
            <a:endParaRPr lang="en-US" sz="939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114"/>
          <p:cNvSpPr/>
          <p:nvPr/>
        </p:nvSpPr>
        <p:spPr>
          <a:xfrm>
            <a:off x="8451360" y="5429520"/>
            <a:ext cx="325656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991B1B"/>
                </a:solidFill>
                <a:latin typeface="Poppins"/>
              </a:rPr>
              <a:t>3. Unlinked Machine Downtime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15"/>
          <p:cNvSpPr/>
          <p:nvPr/>
        </p:nvSpPr>
        <p:spPr>
          <a:xfrm>
            <a:off x="8260920" y="5667480"/>
            <a:ext cx="329184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12"/>
              </a:lnSpc>
            </a:pPr>
            <a:r>
              <a:rPr lang="en-US" sz="939" b="0" strike="noStrike" spc="-1">
                <a:solidFill>
                  <a:srgbClr val="475569"/>
                </a:solidFill>
                <a:latin typeface="Lato"/>
              </a:rPr>
              <a:t>ABT synthesizer suffers a 2.5h card fault at DUHS resulting in 1 failed run (420 mCi lost). Logged on paper, management cannot connect downtime to lost patient revenue or supplier claims.</a:t>
            </a:r>
            <a:endParaRPr lang="en-US" sz="939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Picture 66" descr="image.png"/>
          <p:cNvPicPr/>
          <p:nvPr/>
        </p:nvPicPr>
        <p:blipFill>
          <a:blip r:embed="rId21"/>
          <a:stretch/>
        </p:blipFill>
        <p:spPr>
          <a:xfrm>
            <a:off x="666360" y="5443560"/>
            <a:ext cx="104400" cy="13284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67" descr="image.png"/>
          <p:cNvPicPr/>
          <p:nvPr/>
        </p:nvPicPr>
        <p:blipFill>
          <a:blip r:embed="rId22"/>
          <a:stretch/>
        </p:blipFill>
        <p:spPr>
          <a:xfrm>
            <a:off x="4463640" y="5443560"/>
            <a:ext cx="132840" cy="132840"/>
          </a:xfrm>
          <a:prstGeom prst="rect">
            <a:avLst/>
          </a:prstGeom>
          <a:ln w="0">
            <a:noFill/>
          </a:ln>
        </p:spPr>
      </p:pic>
      <p:pic>
        <p:nvPicPr>
          <p:cNvPr id="179" name="Picture 68" descr="image.png"/>
          <p:cNvPicPr/>
          <p:nvPr/>
        </p:nvPicPr>
        <p:blipFill>
          <a:blip r:embed="rId23"/>
          <a:stretch/>
        </p:blipFill>
        <p:spPr>
          <a:xfrm>
            <a:off x="8260920" y="5443560"/>
            <a:ext cx="132840" cy="132840"/>
          </a:xfrm>
          <a:prstGeom prst="rect">
            <a:avLst/>
          </a:prstGeom>
          <a:ln w="0">
            <a:noFill/>
          </a:ln>
        </p:spPr>
      </p:pic>
      <p:sp>
        <p:nvSpPr>
          <p:cNvPr id="180" name="TextBox 116"/>
          <p:cNvSpPr/>
          <p:nvPr/>
        </p:nvSpPr>
        <p:spPr>
          <a:xfrm>
            <a:off x="475920" y="380880"/>
            <a:ext cx="1171512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strike="noStrike" spc="-1">
                <a:solidFill>
                  <a:srgbClr val="0F172A"/>
                </a:solidFill>
                <a:latin typeface="Poppins SemiBold"/>
              </a:rPr>
              <a:t>Today's Fragmented Operational Flow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E416D50-9725-0EB8-01B9-44B8689923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11726011" y="4390091"/>
            <a:ext cx="406400" cy="406400"/>
          </a:xfrm>
          <a:prstGeom prst="rect">
            <a:avLst/>
          </a:prstGeom>
        </p:spPr>
      </p:pic>
      <p:pic>
        <p:nvPicPr>
          <p:cNvPr id="4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DBEC2697-6B60-B508-3F3A-17E2FE5F66A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11726011" y="499464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58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8585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05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475920" y="1051920"/>
            <a:ext cx="11238840" cy="466308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816480" y="1600200"/>
            <a:ext cx="10384920" cy="316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The Problem Statement:</a:t>
            </a:r>
          </a:p>
          <a:p>
            <a:pPr algn="ctr"/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"The issue isn't a lack of data—it's that critical operational data is scattered across spreadsheets, chats, and individual memories, blinding management to real-time risks."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 algn="ctr"/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 algn="ctr"/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 algn="ctr"/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 algn="ctr"/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The Solution:</a:t>
            </a:r>
          </a:p>
          <a:p>
            <a:pPr algn="ctr"/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An end-to-end operational platform unifying inventory life-cycles, transfer verification, production logs, and machinery telemetry into a single source of truth.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1E62F78-0496-0F9D-894C-346BCC014E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3280" y="52578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2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 48"/>
          <p:cNvSpPr/>
          <p:nvPr/>
        </p:nvSpPr>
        <p:spPr>
          <a:xfrm>
            <a:off x="3992400" y="2745000"/>
            <a:ext cx="439344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142B49"/>
                </a:solidFill>
                <a:latin typeface="Aptos Display"/>
              </a:rPr>
              <a:t>SOLUTION 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6" descr="image.png"/>
          <p:cNvPicPr/>
          <p:nvPr/>
        </p:nvPicPr>
        <p:blipFill>
          <a:blip r:embed="rId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20" descr="image.png"/>
          <p:cNvPicPr/>
          <p:nvPr/>
        </p:nvPicPr>
        <p:blipFill>
          <a:blip r:embed="rId5"/>
          <a:stretch/>
        </p:blipFill>
        <p:spPr>
          <a:xfrm>
            <a:off x="475920" y="2569680"/>
            <a:ext cx="2011320" cy="1110960"/>
          </a:xfrm>
          <a:prstGeom prst="rect">
            <a:avLst/>
          </a:prstGeom>
          <a:ln w="0">
            <a:noFill/>
          </a:ln>
        </p:spPr>
      </p:pic>
      <p:pic>
        <p:nvPicPr>
          <p:cNvPr id="186" name="Picture 24" descr="image.png"/>
          <p:cNvPicPr/>
          <p:nvPr/>
        </p:nvPicPr>
        <p:blipFill>
          <a:blip r:embed="rId6"/>
          <a:stretch/>
        </p:blipFill>
        <p:spPr>
          <a:xfrm>
            <a:off x="2782800" y="2569680"/>
            <a:ext cx="2011320" cy="1110960"/>
          </a:xfrm>
          <a:prstGeom prst="rect">
            <a:avLst/>
          </a:prstGeom>
          <a:ln w="0">
            <a:noFill/>
          </a:ln>
        </p:spPr>
      </p:pic>
      <p:pic>
        <p:nvPicPr>
          <p:cNvPr id="187" name="Picture 25" descr="image.png"/>
          <p:cNvPicPr/>
          <p:nvPr/>
        </p:nvPicPr>
        <p:blipFill>
          <a:blip r:embed="rId7"/>
          <a:stretch/>
        </p:blipFill>
        <p:spPr>
          <a:xfrm>
            <a:off x="5089680" y="2569680"/>
            <a:ext cx="2011320" cy="1110960"/>
          </a:xfrm>
          <a:prstGeom prst="rect">
            <a:avLst/>
          </a:prstGeom>
          <a:ln w="0">
            <a:noFill/>
          </a:ln>
        </p:spPr>
      </p:pic>
      <p:pic>
        <p:nvPicPr>
          <p:cNvPr id="188" name="Picture 29" descr="image.png"/>
          <p:cNvPicPr/>
          <p:nvPr/>
        </p:nvPicPr>
        <p:blipFill>
          <a:blip r:embed="rId8"/>
          <a:stretch/>
        </p:blipFill>
        <p:spPr>
          <a:xfrm>
            <a:off x="7396920" y="2569680"/>
            <a:ext cx="2011320" cy="111096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34" descr="image.png"/>
          <p:cNvPicPr/>
          <p:nvPr/>
        </p:nvPicPr>
        <p:blipFill>
          <a:blip r:embed="rId9"/>
          <a:stretch/>
        </p:blipFill>
        <p:spPr>
          <a:xfrm>
            <a:off x="9703800" y="2569680"/>
            <a:ext cx="2011320" cy="1110960"/>
          </a:xfrm>
          <a:prstGeom prst="rect">
            <a:avLst/>
          </a:prstGeom>
          <a:ln w="0">
            <a:noFill/>
          </a:ln>
        </p:spPr>
      </p:pic>
      <p:pic>
        <p:nvPicPr>
          <p:cNvPr id="190" name="Picture 69" descr="image.png"/>
          <p:cNvPicPr/>
          <p:nvPr/>
        </p:nvPicPr>
        <p:blipFill>
          <a:blip r:embed="rId10"/>
          <a:stretch/>
        </p:blipFill>
        <p:spPr>
          <a:xfrm>
            <a:off x="475920" y="4840920"/>
            <a:ext cx="5524200" cy="1788480"/>
          </a:xfrm>
          <a:prstGeom prst="rect">
            <a:avLst/>
          </a:prstGeom>
          <a:ln w="0">
            <a:noFill/>
          </a:ln>
        </p:spPr>
      </p:pic>
      <p:pic>
        <p:nvPicPr>
          <p:cNvPr id="191" name="Picture 70" descr="image.png"/>
          <p:cNvPicPr/>
          <p:nvPr/>
        </p:nvPicPr>
        <p:blipFill>
          <a:blip r:embed="rId11"/>
          <a:stretch/>
        </p:blipFill>
        <p:spPr>
          <a:xfrm>
            <a:off x="6190920" y="4840920"/>
            <a:ext cx="5524200" cy="1788480"/>
          </a:xfrm>
          <a:prstGeom prst="rect">
            <a:avLst/>
          </a:prstGeom>
          <a:ln w="0">
            <a:noFill/>
          </a:ln>
        </p:spPr>
      </p:pic>
      <p:sp>
        <p:nvSpPr>
          <p:cNvPr id="192" name="Rectangle 71"/>
          <p:cNvSpPr/>
          <p:nvPr/>
        </p:nvSpPr>
        <p:spPr>
          <a:xfrm>
            <a:off x="475920" y="1028880"/>
            <a:ext cx="11238840" cy="79992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117"/>
          <p:cNvSpPr/>
          <p:nvPr/>
        </p:nvSpPr>
        <p:spPr>
          <a:xfrm>
            <a:off x="914040" y="1123920"/>
            <a:ext cx="10115280" cy="34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0" strike="noStrike" spc="-1">
                <a:solidFill>
                  <a:srgbClr val="334155"/>
                </a:solidFill>
                <a:latin typeface="Lato SemiBold"/>
              </a:rPr>
              <a:t>Target State: A single centralized platform uniting Import, Warehouse Stock, Hospital Synthesizers, Component Issues, &amp; Executive Analytics.</a:t>
            </a:r>
            <a:endParaRPr lang="en-US" sz="113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 72"/>
          <p:cNvSpPr/>
          <p:nvPr/>
        </p:nvSpPr>
        <p:spPr>
          <a:xfrm>
            <a:off x="475920" y="1028880"/>
            <a:ext cx="37800" cy="3614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5" name="Picture 71" descr="image.png"/>
          <p:cNvPicPr/>
          <p:nvPr/>
        </p:nvPicPr>
        <p:blipFill>
          <a:blip r:embed="rId12"/>
          <a:stretch/>
        </p:blipFill>
        <p:spPr>
          <a:xfrm>
            <a:off x="666360" y="1143000"/>
            <a:ext cx="142560" cy="142560"/>
          </a:xfrm>
          <a:prstGeom prst="rect">
            <a:avLst/>
          </a:prstGeom>
          <a:ln w="0">
            <a:noFill/>
          </a:ln>
        </p:spPr>
      </p:pic>
      <p:pic>
        <p:nvPicPr>
          <p:cNvPr id="196" name="Picture 72" descr="image.png"/>
          <p:cNvPicPr/>
          <p:nvPr/>
        </p:nvPicPr>
        <p:blipFill>
          <a:blip r:embed="rId13"/>
          <a:stretch/>
        </p:blipFill>
        <p:spPr>
          <a:xfrm>
            <a:off x="1377000" y="2727000"/>
            <a:ext cx="209160" cy="209160"/>
          </a:xfrm>
          <a:prstGeom prst="rect">
            <a:avLst/>
          </a:prstGeom>
          <a:ln w="0">
            <a:noFill/>
          </a:ln>
        </p:spPr>
      </p:pic>
      <p:sp>
        <p:nvSpPr>
          <p:cNvPr id="197" name="TextBox 118"/>
          <p:cNvSpPr/>
          <p:nvPr/>
        </p:nvSpPr>
        <p:spPr>
          <a:xfrm>
            <a:off x="565560" y="2993400"/>
            <a:ext cx="18320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0F172A"/>
                </a:solidFill>
                <a:latin typeface="Poppins"/>
              </a:rPr>
              <a:t>Import &amp; Customs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119"/>
          <p:cNvSpPr/>
          <p:nvPr/>
        </p:nvSpPr>
        <p:spPr>
          <a:xfrm>
            <a:off x="609120" y="3231720"/>
            <a:ext cx="174456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Auto-register Batch, Expiry &amp; Kit IDs (FDG-DUAL/QUAD)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Picture 73" descr="image.png"/>
          <p:cNvPicPr/>
          <p:nvPr/>
        </p:nvPicPr>
        <p:blipFill>
          <a:blip r:embed="rId14"/>
          <a:stretch/>
        </p:blipFill>
        <p:spPr>
          <a:xfrm>
            <a:off x="2583000" y="3049200"/>
            <a:ext cx="104400" cy="171000"/>
          </a:xfrm>
          <a:prstGeom prst="rect">
            <a:avLst/>
          </a:prstGeom>
          <a:ln w="0">
            <a:noFill/>
          </a:ln>
        </p:spPr>
      </p:pic>
      <p:pic>
        <p:nvPicPr>
          <p:cNvPr id="200" name="Picture 74" descr="image.png"/>
          <p:cNvPicPr/>
          <p:nvPr/>
        </p:nvPicPr>
        <p:blipFill>
          <a:blip r:embed="rId15"/>
          <a:stretch/>
        </p:blipFill>
        <p:spPr>
          <a:xfrm>
            <a:off x="3683880" y="2727000"/>
            <a:ext cx="209160" cy="209160"/>
          </a:xfrm>
          <a:prstGeom prst="rect">
            <a:avLst/>
          </a:prstGeom>
          <a:ln w="0">
            <a:noFill/>
          </a:ln>
        </p:spPr>
      </p:pic>
      <p:sp>
        <p:nvSpPr>
          <p:cNvPr id="201" name="TextBox 120"/>
          <p:cNvSpPr/>
          <p:nvPr/>
        </p:nvSpPr>
        <p:spPr>
          <a:xfrm>
            <a:off x="2872440" y="2993400"/>
            <a:ext cx="18320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0F172A"/>
                </a:solidFill>
                <a:latin typeface="Poppins"/>
              </a:rPr>
              <a:t>Warehouse Hub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121"/>
          <p:cNvSpPr/>
          <p:nvPr/>
        </p:nvSpPr>
        <p:spPr>
          <a:xfrm>
            <a:off x="2916360" y="3231720"/>
            <a:ext cx="174456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Digital Dispatching &amp; QR Transfer Confirmation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Picture 75" descr="image.png"/>
          <p:cNvPicPr/>
          <p:nvPr/>
        </p:nvPicPr>
        <p:blipFill>
          <a:blip r:embed="rId14"/>
          <a:stretch/>
        </p:blipFill>
        <p:spPr>
          <a:xfrm>
            <a:off x="4889880" y="3049200"/>
            <a:ext cx="104400" cy="171000"/>
          </a:xfrm>
          <a:prstGeom prst="rect">
            <a:avLst/>
          </a:prstGeom>
          <a:ln w="0">
            <a:noFill/>
          </a:ln>
        </p:spPr>
      </p:pic>
      <p:pic>
        <p:nvPicPr>
          <p:cNvPr id="204" name="Picture 76" descr="image.png"/>
          <p:cNvPicPr/>
          <p:nvPr/>
        </p:nvPicPr>
        <p:blipFill>
          <a:blip r:embed="rId16"/>
          <a:stretch/>
        </p:blipFill>
        <p:spPr>
          <a:xfrm>
            <a:off x="5990760" y="2727000"/>
            <a:ext cx="209160" cy="209160"/>
          </a:xfrm>
          <a:prstGeom prst="rect">
            <a:avLst/>
          </a:prstGeom>
          <a:ln w="0">
            <a:noFill/>
          </a:ln>
        </p:spPr>
      </p:pic>
      <p:sp>
        <p:nvSpPr>
          <p:cNvPr id="205" name="TextBox 122"/>
          <p:cNvSpPr/>
          <p:nvPr/>
        </p:nvSpPr>
        <p:spPr>
          <a:xfrm>
            <a:off x="5179680" y="2993400"/>
            <a:ext cx="18320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0F172A"/>
                </a:solidFill>
                <a:latin typeface="Poppins"/>
              </a:rPr>
              <a:t>Hospital Operations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23"/>
          <p:cNvSpPr/>
          <p:nvPr/>
        </p:nvSpPr>
        <p:spPr>
          <a:xfrm>
            <a:off x="5223240" y="3231720"/>
            <a:ext cx="174456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Real-Time Kit Receipt &amp; Automatic 30-Day Expiry Alert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Picture 77" descr="image.png"/>
          <p:cNvPicPr/>
          <p:nvPr/>
        </p:nvPicPr>
        <p:blipFill>
          <a:blip r:embed="rId17"/>
          <a:stretch/>
        </p:blipFill>
        <p:spPr>
          <a:xfrm>
            <a:off x="7196760" y="3049200"/>
            <a:ext cx="104400" cy="171000"/>
          </a:xfrm>
          <a:prstGeom prst="rect">
            <a:avLst/>
          </a:prstGeom>
          <a:ln w="0">
            <a:noFill/>
          </a:ln>
        </p:spPr>
      </p:pic>
      <p:pic>
        <p:nvPicPr>
          <p:cNvPr id="208" name="Picture 78" descr="image.png"/>
          <p:cNvPicPr/>
          <p:nvPr/>
        </p:nvPicPr>
        <p:blipFill>
          <a:blip r:embed="rId18"/>
          <a:stretch/>
        </p:blipFill>
        <p:spPr>
          <a:xfrm>
            <a:off x="8298000" y="2727000"/>
            <a:ext cx="209160" cy="209160"/>
          </a:xfrm>
          <a:prstGeom prst="rect">
            <a:avLst/>
          </a:prstGeom>
          <a:ln w="0">
            <a:noFill/>
          </a:ln>
        </p:spPr>
      </p:pic>
      <p:sp>
        <p:nvSpPr>
          <p:cNvPr id="209" name="TextBox 124"/>
          <p:cNvSpPr/>
          <p:nvPr/>
        </p:nvSpPr>
        <p:spPr>
          <a:xfrm>
            <a:off x="7486560" y="2993400"/>
            <a:ext cx="18320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0F172A"/>
                </a:solidFill>
                <a:latin typeface="Poppins"/>
              </a:rPr>
              <a:t>Synthesizer Run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125"/>
          <p:cNvSpPr/>
          <p:nvPr/>
        </p:nvSpPr>
        <p:spPr>
          <a:xfrm>
            <a:off x="7530120" y="3231720"/>
            <a:ext cx="1744560" cy="29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Auto-Decrement Runs (2 or 4) &amp; Dose Activity (mCi) Log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Picture 79" descr="image.png"/>
          <p:cNvPicPr/>
          <p:nvPr/>
        </p:nvPicPr>
        <p:blipFill>
          <a:blip r:embed="rId17"/>
          <a:stretch/>
        </p:blipFill>
        <p:spPr>
          <a:xfrm>
            <a:off x="9503640" y="3049200"/>
            <a:ext cx="104400" cy="171000"/>
          </a:xfrm>
          <a:prstGeom prst="rect">
            <a:avLst/>
          </a:prstGeom>
          <a:ln w="0">
            <a:noFill/>
          </a:ln>
        </p:spPr>
      </p:pic>
      <p:pic>
        <p:nvPicPr>
          <p:cNvPr id="212" name="Picture 80" descr="image.png"/>
          <p:cNvPicPr/>
          <p:nvPr/>
        </p:nvPicPr>
        <p:blipFill>
          <a:blip r:embed="rId19"/>
          <a:stretch/>
        </p:blipFill>
        <p:spPr>
          <a:xfrm>
            <a:off x="10604880" y="2727000"/>
            <a:ext cx="209160" cy="209160"/>
          </a:xfrm>
          <a:prstGeom prst="rect">
            <a:avLst/>
          </a:prstGeom>
          <a:ln w="0">
            <a:noFill/>
          </a:ln>
        </p:spPr>
      </p:pic>
      <p:sp>
        <p:nvSpPr>
          <p:cNvPr id="213" name="TextBox 126"/>
          <p:cNvSpPr/>
          <p:nvPr/>
        </p:nvSpPr>
        <p:spPr>
          <a:xfrm>
            <a:off x="9793440" y="2993400"/>
            <a:ext cx="183204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strike="noStrike" spc="-1">
                <a:solidFill>
                  <a:srgbClr val="0F172A"/>
                </a:solidFill>
                <a:latin typeface="Poppins"/>
              </a:rPr>
              <a:t>Executive Portal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127"/>
          <p:cNvSpPr/>
          <p:nvPr/>
        </p:nvSpPr>
        <p:spPr>
          <a:xfrm>
            <a:off x="9837000" y="3195720"/>
            <a:ext cx="1744560" cy="44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ts val="1171"/>
              </a:lnSpc>
            </a:pPr>
            <a:r>
              <a:rPr lang="en-US" sz="900" b="0" strike="noStrike" spc="-1">
                <a:solidFill>
                  <a:srgbClr val="64748B"/>
                </a:solidFill>
                <a:latin typeface="Lato"/>
              </a:rPr>
              <a:t>Instant Machine Yield, Downtime &amp; Supplier Defect Reports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28"/>
          <p:cNvSpPr/>
          <p:nvPr/>
        </p:nvSpPr>
        <p:spPr>
          <a:xfrm>
            <a:off x="885600" y="5013000"/>
            <a:ext cx="518040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9F1239"/>
                </a:solidFill>
                <a:latin typeface="Poppins"/>
              </a:rPr>
              <a:t>Today's Fragmented Operations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29"/>
          <p:cNvSpPr/>
          <p:nvPr/>
        </p:nvSpPr>
        <p:spPr>
          <a:xfrm>
            <a:off x="6600600" y="5013000"/>
            <a:ext cx="518040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14532D"/>
                </a:solidFill>
                <a:latin typeface="Poppins"/>
              </a:rPr>
              <a:t>Target Centralized Platform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Picture 81" descr="image.png"/>
          <p:cNvPicPr/>
          <p:nvPr/>
        </p:nvPicPr>
        <p:blipFill>
          <a:blip r:embed="rId20"/>
          <a:stretch/>
        </p:blipFill>
        <p:spPr>
          <a:xfrm>
            <a:off x="657000" y="5028840"/>
            <a:ext cx="151920" cy="151920"/>
          </a:xfrm>
          <a:prstGeom prst="rect">
            <a:avLst/>
          </a:prstGeom>
          <a:ln w="0">
            <a:noFill/>
          </a:ln>
        </p:spPr>
      </p:pic>
      <p:sp>
        <p:nvSpPr>
          <p:cNvPr id="218" name="TextBox 130"/>
          <p:cNvSpPr/>
          <p:nvPr/>
        </p:nvSpPr>
        <p:spPr>
          <a:xfrm>
            <a:off x="847440" y="5277960"/>
            <a:ext cx="497160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Dispatched (25), Received (23), and Used (20) numbers require days to reconcile manually.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131"/>
          <p:cNvSpPr/>
          <p:nvPr/>
        </p:nvSpPr>
        <p:spPr>
          <a:xfrm>
            <a:off x="847440" y="5623920"/>
            <a:ext cx="497160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Manual run decrements lead to human overwrite errors and surprise stockouts.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32"/>
          <p:cNvSpPr/>
          <p:nvPr/>
        </p:nvSpPr>
        <p:spPr>
          <a:xfrm>
            <a:off x="847440" y="5873400"/>
            <a:ext cx="497160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Defective components (e.g. filter on KIT-045) lost in WhatsApp group chats.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133"/>
          <p:cNvSpPr/>
          <p:nvPr/>
        </p:nvSpPr>
        <p:spPr>
          <a:xfrm>
            <a:off x="847440" y="6122880"/>
            <a:ext cx="497160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High dependency on individual employee knowledge during staff absences.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Picture 82" descr="image.png"/>
          <p:cNvPicPr/>
          <p:nvPr/>
        </p:nvPicPr>
        <p:blipFill>
          <a:blip r:embed="rId21"/>
          <a:stretch/>
        </p:blipFill>
        <p:spPr>
          <a:xfrm>
            <a:off x="6372000" y="5028840"/>
            <a:ext cx="151920" cy="151920"/>
          </a:xfrm>
          <a:prstGeom prst="rect">
            <a:avLst/>
          </a:prstGeom>
          <a:ln w="0">
            <a:noFill/>
          </a:ln>
        </p:spPr>
      </p:pic>
      <p:sp>
        <p:nvSpPr>
          <p:cNvPr id="223" name="TextBox 134"/>
          <p:cNvSpPr/>
          <p:nvPr/>
        </p:nvSpPr>
        <p:spPr>
          <a:xfrm>
            <a:off x="6562440" y="5374440"/>
            <a:ext cx="497160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Single Source of Truth across Import → Warehouse → Hospital → Synthesizer.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135"/>
          <p:cNvSpPr/>
          <p:nvPr/>
        </p:nvSpPr>
        <p:spPr>
          <a:xfrm>
            <a:off x="6562440" y="5623920"/>
            <a:ext cx="497160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Automated Kit Run Tracking with real-time audit trail and zero overwrite risk.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136"/>
          <p:cNvSpPr/>
          <p:nvPr/>
        </p:nvSpPr>
        <p:spPr>
          <a:xfrm>
            <a:off x="6562440" y="5873400"/>
            <a:ext cx="497160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Structured defect logging directly linked to Kit ID &amp; Supplier Claim claims.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137"/>
          <p:cNvSpPr/>
          <p:nvPr/>
        </p:nvSpPr>
        <p:spPr>
          <a:xfrm>
            <a:off x="6562440" y="6122880"/>
            <a:ext cx="497160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Instant executive dashboard answering Q3 failure rates &amp; machine downtime in 1 click.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138"/>
          <p:cNvSpPr/>
          <p:nvPr/>
        </p:nvSpPr>
        <p:spPr>
          <a:xfrm>
            <a:off x="657000" y="5266440"/>
            <a:ext cx="9504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1" strike="noStrike" spc="-1">
                <a:solidFill>
                  <a:srgbClr val="E11D48"/>
                </a:solidFill>
                <a:latin typeface="Lato"/>
              </a:rPr>
              <a:t>✕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139"/>
          <p:cNvSpPr/>
          <p:nvPr/>
        </p:nvSpPr>
        <p:spPr>
          <a:xfrm>
            <a:off x="657000" y="5623920"/>
            <a:ext cx="9504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1" strike="noStrike" spc="-1">
                <a:solidFill>
                  <a:srgbClr val="E11D48"/>
                </a:solidFill>
                <a:latin typeface="Lato"/>
              </a:rPr>
              <a:t>✕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140"/>
          <p:cNvSpPr/>
          <p:nvPr/>
        </p:nvSpPr>
        <p:spPr>
          <a:xfrm>
            <a:off x="657000" y="5873400"/>
            <a:ext cx="9504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1" strike="noStrike" spc="-1">
                <a:solidFill>
                  <a:srgbClr val="E11D48"/>
                </a:solidFill>
                <a:latin typeface="Lato"/>
              </a:rPr>
              <a:t>✕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141"/>
          <p:cNvSpPr/>
          <p:nvPr/>
        </p:nvSpPr>
        <p:spPr>
          <a:xfrm>
            <a:off x="657000" y="6122880"/>
            <a:ext cx="9504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1" strike="noStrike" spc="-1">
                <a:solidFill>
                  <a:srgbClr val="E11D48"/>
                </a:solidFill>
                <a:latin typeface="Lato"/>
              </a:rPr>
              <a:t>✕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142"/>
          <p:cNvSpPr/>
          <p:nvPr/>
        </p:nvSpPr>
        <p:spPr>
          <a:xfrm>
            <a:off x="6372000" y="5374440"/>
            <a:ext cx="12348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1" strike="noStrike" spc="-1">
                <a:solidFill>
                  <a:srgbClr val="16A34A"/>
                </a:solidFill>
                <a:latin typeface="Lato"/>
              </a:rPr>
              <a:t>✓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143"/>
          <p:cNvSpPr/>
          <p:nvPr/>
        </p:nvSpPr>
        <p:spPr>
          <a:xfrm>
            <a:off x="6372000" y="5623920"/>
            <a:ext cx="12348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1" strike="noStrike" spc="-1">
                <a:solidFill>
                  <a:srgbClr val="16A34A"/>
                </a:solidFill>
                <a:latin typeface="Lato"/>
              </a:rPr>
              <a:t>✓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144"/>
          <p:cNvSpPr/>
          <p:nvPr/>
        </p:nvSpPr>
        <p:spPr>
          <a:xfrm>
            <a:off x="6372000" y="5873400"/>
            <a:ext cx="12348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1" strike="noStrike" spc="-1">
                <a:solidFill>
                  <a:srgbClr val="16A34A"/>
                </a:solidFill>
                <a:latin typeface="Lato"/>
              </a:rPr>
              <a:t>✓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145"/>
          <p:cNvSpPr/>
          <p:nvPr/>
        </p:nvSpPr>
        <p:spPr>
          <a:xfrm>
            <a:off x="6372000" y="6122880"/>
            <a:ext cx="12348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363"/>
              </a:lnSpc>
            </a:pPr>
            <a:r>
              <a:rPr lang="en-US" sz="980" b="1" strike="noStrike" spc="-1">
                <a:solidFill>
                  <a:srgbClr val="16A34A"/>
                </a:solidFill>
                <a:latin typeface="Lato"/>
              </a:rPr>
              <a:t>✓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46"/>
          <p:cNvSpPr/>
          <p:nvPr/>
        </p:nvSpPr>
        <p:spPr>
          <a:xfrm>
            <a:off x="475920" y="380880"/>
            <a:ext cx="11715120" cy="36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strike="noStrike" spc="-1">
                <a:solidFill>
                  <a:srgbClr val="0F172A"/>
                </a:solidFill>
                <a:latin typeface="Poppins SemiBold"/>
              </a:rPr>
              <a:t>Target Centralized Operational Flow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A3A56EA-D2C9-D853-FA88-64A5114476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501320" y="446492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7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49"/>
          <p:cNvSpPr/>
          <p:nvPr/>
        </p:nvSpPr>
        <p:spPr>
          <a:xfrm>
            <a:off x="3398760" y="2745000"/>
            <a:ext cx="558072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142B49"/>
                </a:solidFill>
                <a:latin typeface="Aptos Display"/>
              </a:rPr>
              <a:t>APPLICATION 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2"/>
          <p:cNvSpPr/>
          <p:nvPr/>
        </p:nvSpPr>
        <p:spPr>
          <a:xfrm>
            <a:off x="3219840" y="320040"/>
            <a:ext cx="57207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User Roles &amp; Responsibilities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ounded Rectangle 3"/>
          <p:cNvSpPr/>
          <p:nvPr/>
        </p:nvSpPr>
        <p:spPr>
          <a:xfrm>
            <a:off x="685800" y="1417320"/>
            <a:ext cx="3428640" cy="224028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Rectangle 4"/>
          <p:cNvSpPr/>
          <p:nvPr/>
        </p:nvSpPr>
        <p:spPr>
          <a:xfrm>
            <a:off x="685800" y="1417320"/>
            <a:ext cx="3428640" cy="594000"/>
          </a:xfrm>
          <a:prstGeom prst="rect">
            <a:avLst/>
          </a:prstGeom>
          <a:solidFill>
            <a:srgbClr val="142B4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1892520" y="1572840"/>
            <a:ext cx="9691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Admin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6"/>
          <p:cNvSpPr/>
          <p:nvPr/>
        </p:nvSpPr>
        <p:spPr>
          <a:xfrm>
            <a:off x="1269360" y="2240280"/>
            <a:ext cx="22615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Full system oversight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960120" y="2577600"/>
            <a:ext cx="2880000" cy="8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• Sites, users, inventory, production, issues, downtime, reports, exports and AI-assisted analysis.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ounded Rectangle 8"/>
          <p:cNvSpPr/>
          <p:nvPr/>
        </p:nvSpPr>
        <p:spPr>
          <a:xfrm>
            <a:off x="4480560" y="1417320"/>
            <a:ext cx="3428640" cy="224028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Rectangle 9"/>
          <p:cNvSpPr/>
          <p:nvPr/>
        </p:nvSpPr>
        <p:spPr>
          <a:xfrm>
            <a:off x="4480560" y="1417320"/>
            <a:ext cx="3428640" cy="594000"/>
          </a:xfrm>
          <a:prstGeom prst="rect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6" name="TextBox 10"/>
          <p:cNvSpPr/>
          <p:nvPr/>
        </p:nvSpPr>
        <p:spPr>
          <a:xfrm>
            <a:off x="4809600" y="1572840"/>
            <a:ext cx="2724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Warehouse Manager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11"/>
          <p:cNvSpPr/>
          <p:nvPr/>
        </p:nvSpPr>
        <p:spPr>
          <a:xfrm>
            <a:off x="5015520" y="2240280"/>
            <a:ext cx="23587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Warehouse operations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2"/>
          <p:cNvSpPr/>
          <p:nvPr/>
        </p:nvSpPr>
        <p:spPr>
          <a:xfrm>
            <a:off x="4754880" y="2577600"/>
            <a:ext cx="2880000" cy="8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• Create templates, receive/manage stock, create kits, initiate transfers, resolve issues and manage expiry.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ounded Rectangle 13"/>
          <p:cNvSpPr/>
          <p:nvPr/>
        </p:nvSpPr>
        <p:spPr>
          <a:xfrm>
            <a:off x="8275320" y="1417320"/>
            <a:ext cx="3428640" cy="224028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0" name="Rectangle 14"/>
          <p:cNvSpPr/>
          <p:nvPr/>
        </p:nvSpPr>
        <p:spPr>
          <a:xfrm>
            <a:off x="8275320" y="1417320"/>
            <a:ext cx="3428640" cy="594000"/>
          </a:xfrm>
          <a:prstGeom prst="rect">
            <a:avLst/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8683200" y="1572840"/>
            <a:ext cx="23817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Hospital Manager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6"/>
          <p:cNvSpPr/>
          <p:nvPr/>
        </p:nvSpPr>
        <p:spPr>
          <a:xfrm>
            <a:off x="9156960" y="2240280"/>
            <a:ext cx="16653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Site operations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7"/>
          <p:cNvSpPr/>
          <p:nvPr/>
        </p:nvSpPr>
        <p:spPr>
          <a:xfrm>
            <a:off x="8549640" y="2577600"/>
            <a:ext cx="2880000" cy="8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• Confirm receipts, manage site inventory, enter daily summaries, production, downtime and site issues.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A1E9B2F9-D55E-50A7-8AA5-6783EC158E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9400" y="5696204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4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2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1"/>
          <p:cNvSpPr/>
          <p:nvPr/>
        </p:nvSpPr>
        <p:spPr>
          <a:xfrm>
            <a:off x="3219840" y="320040"/>
            <a:ext cx="57207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User Roles &amp; Responsibilities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ounded Rectangle 1"/>
          <p:cNvSpPr/>
          <p:nvPr/>
        </p:nvSpPr>
        <p:spPr>
          <a:xfrm>
            <a:off x="228600" y="1417320"/>
            <a:ext cx="2514600" cy="452628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Rectangle 3"/>
          <p:cNvSpPr/>
          <p:nvPr/>
        </p:nvSpPr>
        <p:spPr>
          <a:xfrm>
            <a:off x="228600" y="1463400"/>
            <a:ext cx="2514600" cy="594000"/>
          </a:xfrm>
          <a:prstGeom prst="rect">
            <a:avLst/>
          </a:prstGeom>
          <a:solidFill>
            <a:srgbClr val="142B4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TextBox 57"/>
          <p:cNvSpPr/>
          <p:nvPr/>
        </p:nvSpPr>
        <p:spPr>
          <a:xfrm>
            <a:off x="228600" y="1600200"/>
            <a:ext cx="9691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Admin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58"/>
          <p:cNvSpPr/>
          <p:nvPr/>
        </p:nvSpPr>
        <p:spPr>
          <a:xfrm>
            <a:off x="253080" y="2211480"/>
            <a:ext cx="22615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Full system oversight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59"/>
          <p:cNvSpPr/>
          <p:nvPr/>
        </p:nvSpPr>
        <p:spPr>
          <a:xfrm>
            <a:off x="228600" y="2577600"/>
            <a:ext cx="2743200" cy="282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Sites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users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inventory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production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issues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downtime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Reports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Exports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AI-assisted analysis.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60"/>
          <p:cNvSpPr/>
          <p:nvPr/>
        </p:nvSpPr>
        <p:spPr>
          <a:xfrm>
            <a:off x="4809600" y="1572840"/>
            <a:ext cx="2724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Warehouse Manager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Picture 261"/>
          <p:cNvPicPr/>
          <p:nvPr/>
        </p:nvPicPr>
        <p:blipFill>
          <a:blip r:embed="rId6"/>
          <a:stretch/>
        </p:blipFill>
        <p:spPr>
          <a:xfrm>
            <a:off x="2815200" y="1050840"/>
            <a:ext cx="9129960" cy="5229360"/>
          </a:xfrm>
          <a:prstGeom prst="rect">
            <a:avLst/>
          </a:prstGeom>
          <a:ln w="0">
            <a:noFill/>
          </a:ln>
        </p:spPr>
      </p:pic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2C8B7322-37C1-8DB2-D66B-0567441BCD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6686" y="5873110"/>
            <a:ext cx="406400" cy="406400"/>
          </a:xfrm>
          <a:prstGeom prst="rect">
            <a:avLst/>
          </a:prstGeom>
        </p:spPr>
      </p:pic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83AAF9EC-CEAF-B42A-C31E-6DFC510DBC9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6686" y="637845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57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957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141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36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61"/>
          <p:cNvSpPr/>
          <p:nvPr/>
        </p:nvSpPr>
        <p:spPr>
          <a:xfrm>
            <a:off x="3219840" y="320040"/>
            <a:ext cx="57207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User Roles &amp; Responsibilities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ounded Rectangle 2"/>
          <p:cNvSpPr/>
          <p:nvPr/>
        </p:nvSpPr>
        <p:spPr>
          <a:xfrm>
            <a:off x="228600" y="1417320"/>
            <a:ext cx="2514600" cy="452628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Rectangle 38"/>
          <p:cNvSpPr/>
          <p:nvPr/>
        </p:nvSpPr>
        <p:spPr>
          <a:xfrm>
            <a:off x="228600" y="1463400"/>
            <a:ext cx="2514600" cy="976680"/>
          </a:xfrm>
          <a:prstGeom prst="rect">
            <a:avLst/>
          </a:prstGeom>
          <a:solidFill>
            <a:srgbClr val="142B4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62"/>
          <p:cNvSpPr/>
          <p:nvPr/>
        </p:nvSpPr>
        <p:spPr>
          <a:xfrm>
            <a:off x="465840" y="1647720"/>
            <a:ext cx="156492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Warehouse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Manager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63"/>
          <p:cNvSpPr/>
          <p:nvPr/>
        </p:nvSpPr>
        <p:spPr>
          <a:xfrm>
            <a:off x="228600" y="2514600"/>
            <a:ext cx="23572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Warehouse operations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64"/>
          <p:cNvSpPr/>
          <p:nvPr/>
        </p:nvSpPr>
        <p:spPr>
          <a:xfrm>
            <a:off x="228600" y="2817720"/>
            <a:ext cx="2743200" cy="186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Create templates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Receive/manage stock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Create kits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Initiate transfers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Resolve issues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Manage expiry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65"/>
          <p:cNvSpPr/>
          <p:nvPr/>
        </p:nvSpPr>
        <p:spPr>
          <a:xfrm>
            <a:off x="4809600" y="1572840"/>
            <a:ext cx="2724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Warehouse Manager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" name="Picture 270"/>
          <p:cNvPicPr/>
          <p:nvPr/>
        </p:nvPicPr>
        <p:blipFill>
          <a:blip r:embed="rId4"/>
          <a:stretch/>
        </p:blipFill>
        <p:spPr>
          <a:xfrm>
            <a:off x="2840040" y="1293480"/>
            <a:ext cx="9052920" cy="3699720"/>
          </a:xfrm>
          <a:prstGeom prst="rect">
            <a:avLst/>
          </a:prstGeom>
          <a:ln w="0">
            <a:noFill/>
          </a:ln>
        </p:spPr>
      </p:pic>
      <p:pic>
        <p:nvPicPr>
          <p:cNvPr id="3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B2CC7A95-8445-9A86-A254-CB0501DE52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3229" y="589430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29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39"/>
          <p:cNvSpPr/>
          <p:nvPr/>
        </p:nvSpPr>
        <p:spPr>
          <a:xfrm>
            <a:off x="0" y="36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66"/>
          <p:cNvSpPr/>
          <p:nvPr/>
        </p:nvSpPr>
        <p:spPr>
          <a:xfrm>
            <a:off x="3219840" y="320040"/>
            <a:ext cx="57207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User Roles &amp; Responsibilities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ounded Rectangle 5"/>
          <p:cNvSpPr/>
          <p:nvPr/>
        </p:nvSpPr>
        <p:spPr>
          <a:xfrm>
            <a:off x="228600" y="1417320"/>
            <a:ext cx="2514600" cy="452628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ectangle 42"/>
          <p:cNvSpPr/>
          <p:nvPr/>
        </p:nvSpPr>
        <p:spPr>
          <a:xfrm>
            <a:off x="228600" y="1463400"/>
            <a:ext cx="2514600" cy="976680"/>
          </a:xfrm>
          <a:prstGeom prst="rect">
            <a:avLst/>
          </a:prstGeom>
          <a:solidFill>
            <a:srgbClr val="142B4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67"/>
          <p:cNvSpPr/>
          <p:nvPr/>
        </p:nvSpPr>
        <p:spPr>
          <a:xfrm>
            <a:off x="228600" y="1692720"/>
            <a:ext cx="23817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Hospital Manager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68"/>
          <p:cNvSpPr/>
          <p:nvPr/>
        </p:nvSpPr>
        <p:spPr>
          <a:xfrm>
            <a:off x="228600" y="2514600"/>
            <a:ext cx="23572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Warehouse operations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69"/>
          <p:cNvSpPr/>
          <p:nvPr/>
        </p:nvSpPr>
        <p:spPr>
          <a:xfrm>
            <a:off x="228600" y="2817720"/>
            <a:ext cx="2743200" cy="186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Confirm receipts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Manage site inventory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Enter daily summaries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Production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Downtime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250" b="0" strike="noStrike" spc="-1">
                <a:solidFill>
                  <a:srgbClr val="2D3741"/>
                </a:solidFill>
                <a:latin typeface="Aptos"/>
              </a:rPr>
              <a:t>Site issues.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70"/>
          <p:cNvSpPr/>
          <p:nvPr/>
        </p:nvSpPr>
        <p:spPr>
          <a:xfrm>
            <a:off x="4809600" y="1572840"/>
            <a:ext cx="27244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latin typeface="Aptos"/>
              </a:rPr>
              <a:t>Warehouse Manager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Picture 279"/>
          <p:cNvPicPr/>
          <p:nvPr/>
        </p:nvPicPr>
        <p:blipFill>
          <a:blip r:embed="rId4"/>
          <a:stretch/>
        </p:blipFill>
        <p:spPr>
          <a:xfrm>
            <a:off x="3036600" y="1366560"/>
            <a:ext cx="8892360" cy="3842640"/>
          </a:xfrm>
          <a:prstGeom prst="rect">
            <a:avLst/>
          </a:prstGeom>
          <a:ln w="0">
            <a:noFill/>
          </a:ln>
        </p:spPr>
      </p:pic>
      <p:pic>
        <p:nvPicPr>
          <p:cNvPr id="2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F3715592-9646-773B-8761-5C2BE6B1CF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2342" y="6240783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0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Box 52"/>
          <p:cNvSpPr/>
          <p:nvPr/>
        </p:nvSpPr>
        <p:spPr>
          <a:xfrm>
            <a:off x="1002600" y="2745000"/>
            <a:ext cx="103752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142B49"/>
                </a:solidFill>
                <a:latin typeface="Aptos Display"/>
              </a:rPr>
              <a:t>OPERATIONAL WORKFLOW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2"/>
          <p:cNvSpPr/>
          <p:nvPr/>
        </p:nvSpPr>
        <p:spPr>
          <a:xfrm>
            <a:off x="3409200" y="320040"/>
            <a:ext cx="534168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 Core Operational Workflow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3"/>
          <p:cNvSpPr/>
          <p:nvPr/>
        </p:nvSpPr>
        <p:spPr>
          <a:xfrm>
            <a:off x="3654360" y="932760"/>
            <a:ext cx="47242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6E7882"/>
                </a:solidFill>
                <a:latin typeface="Aptos"/>
              </a:rPr>
              <a:t>From kit preparation to hospital use and historical traceability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Oval 4"/>
          <p:cNvSpPr/>
          <p:nvPr/>
        </p:nvSpPr>
        <p:spPr>
          <a:xfrm>
            <a:off x="1005840" y="1554480"/>
            <a:ext cx="639720" cy="639720"/>
          </a:xfrm>
          <a:prstGeom prst="ellipse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FFFFFF"/>
                </a:solidFill>
                <a:latin typeface="Aptos"/>
              </a:rPr>
              <a:t>1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5"/>
          <p:cNvSpPr/>
          <p:nvPr/>
        </p:nvSpPr>
        <p:spPr>
          <a:xfrm>
            <a:off x="781560" y="2331720"/>
            <a:ext cx="10879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Template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6"/>
          <p:cNvSpPr/>
          <p:nvPr/>
        </p:nvSpPr>
        <p:spPr>
          <a:xfrm>
            <a:off x="460440" y="2743200"/>
            <a:ext cx="1596960" cy="41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Standard kit + 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component definition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8" name="Connector 7"/>
          <p:cNvCxnSpPr/>
          <p:nvPr/>
        </p:nvCxnSpPr>
        <p:spPr>
          <a:xfrm>
            <a:off x="1691640" y="1874160"/>
            <a:ext cx="749880" cy="360"/>
          </a:xfrm>
          <a:prstGeom prst="straightConnector1">
            <a:avLst/>
          </a:prstGeom>
          <a:ln>
            <a:solidFill>
              <a:srgbClr val="DAE4ED"/>
            </a:solidFill>
            <a:round/>
          </a:ln>
        </p:spPr>
      </p:cxnSp>
      <p:sp>
        <p:nvSpPr>
          <p:cNvPr id="289" name="Oval 8"/>
          <p:cNvSpPr/>
          <p:nvPr/>
        </p:nvSpPr>
        <p:spPr>
          <a:xfrm>
            <a:off x="2944440" y="1554480"/>
            <a:ext cx="639720" cy="639720"/>
          </a:xfrm>
          <a:prstGeom prst="ellipse">
            <a:avLst/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FFFFFF"/>
                </a:solidFill>
                <a:latin typeface="Aptos"/>
              </a:rPr>
              <a:t>2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9"/>
          <p:cNvSpPr/>
          <p:nvPr/>
        </p:nvSpPr>
        <p:spPr>
          <a:xfrm>
            <a:off x="2584800" y="2331720"/>
            <a:ext cx="13590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Kit Creation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10"/>
          <p:cNvSpPr/>
          <p:nvPr/>
        </p:nvSpPr>
        <p:spPr>
          <a:xfrm>
            <a:off x="2218320" y="2743200"/>
            <a:ext cx="18964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Unique Kit ID, lot,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 Cat. no. and run capacity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2" name="Connector 11"/>
          <p:cNvCxnSpPr/>
          <p:nvPr/>
        </p:nvCxnSpPr>
        <p:spPr>
          <a:xfrm>
            <a:off x="3629880" y="1874160"/>
            <a:ext cx="750240" cy="360"/>
          </a:xfrm>
          <a:prstGeom prst="straightConnector1">
            <a:avLst/>
          </a:prstGeom>
          <a:ln>
            <a:solidFill>
              <a:srgbClr val="DAE4ED"/>
            </a:solidFill>
            <a:round/>
          </a:ln>
        </p:spPr>
      </p:cxnSp>
      <p:sp>
        <p:nvSpPr>
          <p:cNvPr id="293" name="Oval 12"/>
          <p:cNvSpPr/>
          <p:nvPr/>
        </p:nvSpPr>
        <p:spPr>
          <a:xfrm>
            <a:off x="4883040" y="1554480"/>
            <a:ext cx="639720" cy="639720"/>
          </a:xfrm>
          <a:prstGeom prst="ellipse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FFFFFF"/>
                </a:solidFill>
                <a:latin typeface="Aptos"/>
              </a:rPr>
              <a:t>3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13"/>
          <p:cNvSpPr/>
          <p:nvPr/>
        </p:nvSpPr>
        <p:spPr>
          <a:xfrm>
            <a:off x="4705200" y="2331720"/>
            <a:ext cx="9950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Transfer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14"/>
          <p:cNvSpPr/>
          <p:nvPr/>
        </p:nvSpPr>
        <p:spPr>
          <a:xfrm>
            <a:off x="4343400" y="2743200"/>
            <a:ext cx="16228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Warehouse sends kits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 to a specific hospital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6" name="Connector 15"/>
          <p:cNvCxnSpPr/>
          <p:nvPr/>
        </p:nvCxnSpPr>
        <p:spPr>
          <a:xfrm>
            <a:off x="5568480" y="1874160"/>
            <a:ext cx="750240" cy="360"/>
          </a:xfrm>
          <a:prstGeom prst="straightConnector1">
            <a:avLst/>
          </a:prstGeom>
          <a:ln>
            <a:solidFill>
              <a:srgbClr val="DAE4ED"/>
            </a:solidFill>
            <a:round/>
          </a:ln>
        </p:spPr>
      </p:cxnSp>
      <p:sp>
        <p:nvSpPr>
          <p:cNvPr id="297" name="Oval 16"/>
          <p:cNvSpPr/>
          <p:nvPr/>
        </p:nvSpPr>
        <p:spPr>
          <a:xfrm>
            <a:off x="6821280" y="1554480"/>
            <a:ext cx="639720" cy="639720"/>
          </a:xfrm>
          <a:prstGeom prst="ellipse">
            <a:avLst/>
          </a:prstGeom>
          <a:solidFill>
            <a:srgbClr val="C2852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FFFFFF"/>
                </a:solidFill>
                <a:latin typeface="Aptos"/>
              </a:rPr>
              <a:t>4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17"/>
          <p:cNvSpPr/>
          <p:nvPr/>
        </p:nvSpPr>
        <p:spPr>
          <a:xfrm>
            <a:off x="6676200" y="2331720"/>
            <a:ext cx="9295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Receipt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Box 18"/>
          <p:cNvSpPr/>
          <p:nvPr/>
        </p:nvSpPr>
        <p:spPr>
          <a:xfrm>
            <a:off x="6198120" y="2743200"/>
            <a:ext cx="1575720" cy="56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Hospital confirms 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delivery before stock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 becomes active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0" name="Connector 19"/>
          <p:cNvCxnSpPr/>
          <p:nvPr/>
        </p:nvCxnSpPr>
        <p:spPr>
          <a:xfrm>
            <a:off x="7507080" y="1874160"/>
            <a:ext cx="750240" cy="360"/>
          </a:xfrm>
          <a:prstGeom prst="straightConnector1">
            <a:avLst/>
          </a:prstGeom>
          <a:ln>
            <a:solidFill>
              <a:srgbClr val="DAE4ED"/>
            </a:solidFill>
            <a:round/>
          </a:ln>
        </p:spPr>
      </p:cxnSp>
      <p:sp>
        <p:nvSpPr>
          <p:cNvPr id="301" name="Oval 20"/>
          <p:cNvSpPr/>
          <p:nvPr/>
        </p:nvSpPr>
        <p:spPr>
          <a:xfrm>
            <a:off x="8759880" y="1554480"/>
            <a:ext cx="639720" cy="639720"/>
          </a:xfrm>
          <a:prstGeom prst="ellipse">
            <a:avLst/>
          </a:prstGeom>
          <a:solidFill>
            <a:srgbClr val="377D5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FFFFFF"/>
                </a:solidFill>
                <a:latin typeface="Aptos"/>
              </a:rPr>
              <a:t>5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21"/>
          <p:cNvSpPr/>
          <p:nvPr/>
        </p:nvSpPr>
        <p:spPr>
          <a:xfrm>
            <a:off x="8528040" y="2331720"/>
            <a:ext cx="110304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Daily Use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22"/>
          <p:cNvSpPr/>
          <p:nvPr/>
        </p:nvSpPr>
        <p:spPr>
          <a:xfrm>
            <a:off x="8392320" y="2788920"/>
            <a:ext cx="1374480" cy="56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Usage is recorded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 against Kit ID 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in Daily Summary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4" name="Connector 23"/>
          <p:cNvCxnSpPr/>
          <p:nvPr/>
        </p:nvCxnSpPr>
        <p:spPr>
          <a:xfrm>
            <a:off x="9445680" y="1874160"/>
            <a:ext cx="750240" cy="360"/>
          </a:xfrm>
          <a:prstGeom prst="straightConnector1">
            <a:avLst/>
          </a:prstGeom>
          <a:ln>
            <a:solidFill>
              <a:srgbClr val="DAE4ED"/>
            </a:solidFill>
            <a:round/>
          </a:ln>
        </p:spPr>
      </p:cxnSp>
      <p:sp>
        <p:nvSpPr>
          <p:cNvPr id="305" name="Oval 24"/>
          <p:cNvSpPr/>
          <p:nvPr/>
        </p:nvSpPr>
        <p:spPr>
          <a:xfrm>
            <a:off x="10698480" y="1554480"/>
            <a:ext cx="639720" cy="639720"/>
          </a:xfrm>
          <a:prstGeom prst="ellipse">
            <a:avLst/>
          </a:prstGeom>
          <a:solidFill>
            <a:srgbClr val="AA434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strike="noStrike" spc="-1">
                <a:solidFill>
                  <a:srgbClr val="FFFFFF"/>
                </a:solidFill>
                <a:latin typeface="Aptos"/>
              </a:rPr>
              <a:t>6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25"/>
          <p:cNvSpPr/>
          <p:nvPr/>
        </p:nvSpPr>
        <p:spPr>
          <a:xfrm>
            <a:off x="10373040" y="2331720"/>
            <a:ext cx="12906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Completion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26"/>
          <p:cNvSpPr/>
          <p:nvPr/>
        </p:nvSpPr>
        <p:spPr>
          <a:xfrm>
            <a:off x="10053000" y="2788920"/>
            <a:ext cx="1930680" cy="56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When runs are exhausted,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 kit leaves active 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hospital inventory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ounded Rectangle 27"/>
          <p:cNvSpPr/>
          <p:nvPr/>
        </p:nvSpPr>
        <p:spPr>
          <a:xfrm>
            <a:off x="914400" y="4709160"/>
            <a:ext cx="10240920" cy="14630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Rectangle 28"/>
          <p:cNvSpPr/>
          <p:nvPr/>
        </p:nvSpPr>
        <p:spPr>
          <a:xfrm>
            <a:off x="914400" y="4709160"/>
            <a:ext cx="72720" cy="959760"/>
          </a:xfrm>
          <a:prstGeom prst="rect">
            <a:avLst/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TextBox 29"/>
          <p:cNvSpPr/>
          <p:nvPr/>
        </p:nvSpPr>
        <p:spPr>
          <a:xfrm>
            <a:off x="4888080" y="4855320"/>
            <a:ext cx="232992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strike="noStrike" spc="-1">
                <a:solidFill>
                  <a:srgbClr val="142B49"/>
                </a:solidFill>
                <a:latin typeface="Aptos"/>
              </a:rPr>
              <a:t>Key Design Principle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Box 30"/>
          <p:cNvSpPr/>
          <p:nvPr/>
        </p:nvSpPr>
        <p:spPr>
          <a:xfrm>
            <a:off x="1115640" y="5303520"/>
            <a:ext cx="987516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2D3741"/>
                </a:solidFill>
                <a:latin typeface="Aptos"/>
              </a:rPr>
              <a:t>Production Runs do not ask for Kit ID. Kit usage is tracked only in Daily Summary, preserving a clean separation between production events and inventory consumption.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Picture 1" descr="image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13" name="Rounded Rectangle 14"/>
          <p:cNvSpPr/>
          <p:nvPr/>
        </p:nvSpPr>
        <p:spPr>
          <a:xfrm>
            <a:off x="571320" y="2159640"/>
            <a:ext cx="11048400" cy="32526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graphicFrame>
        <p:nvGraphicFramePr>
          <p:cNvPr id="314" name="Table 2"/>
          <p:cNvGraphicFramePr/>
          <p:nvPr/>
        </p:nvGraphicFramePr>
        <p:xfrm>
          <a:off x="571320" y="2159640"/>
          <a:ext cx="11038680" cy="3252600"/>
        </p:xfrm>
        <a:graphic>
          <a:graphicData uri="http://schemas.openxmlformats.org/drawingml/2006/table">
            <a:tbl>
              <a:tblPr/>
              <a:tblGrid>
                <a:gridCol w="2737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130" b="1" strike="noStrike" spc="-1">
                          <a:solidFill>
                            <a:srgbClr val="0F172A"/>
                          </a:solidFill>
                          <a:latin typeface="Plus Jakarta Sans"/>
                        </a:rPr>
                        <a:t>Status Code</a:t>
                      </a:r>
                      <a:endParaRPr lang="en-US" sz="113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130" b="1" strike="noStrike" spc="-1">
                          <a:solidFill>
                            <a:srgbClr val="0F172A"/>
                          </a:solidFill>
                          <a:latin typeface="Plus Jakarta Sans"/>
                        </a:rPr>
                        <a:t>Location State</a:t>
                      </a:r>
                      <a:endParaRPr lang="en-US" sz="113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130" b="1" strike="noStrike" spc="-1">
                          <a:solidFill>
                            <a:srgbClr val="0F172A"/>
                          </a:solidFill>
                          <a:latin typeface="Plus Jakarta Sans"/>
                        </a:rPr>
                        <a:t>Operational Meaning</a:t>
                      </a:r>
                      <a:endParaRPr lang="en-US" sz="113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130" b="1" strike="noStrike" spc="-1">
                          <a:solidFill>
                            <a:srgbClr val="0F172A"/>
                          </a:solidFill>
                          <a:latin typeface="Plus Jakarta Sans"/>
                        </a:rPr>
                        <a:t>Allowed Action</a:t>
                      </a:r>
                      <a:endParaRPr lang="en-US" sz="113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1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WAREHOUSE_AVAILABLE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Warehouse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In stock and ready for clinical dispatch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Initiate Transfer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1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RECEIPT_PENDING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In Transit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Dispatched to hospital; unconfirmed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Confirm Receiving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1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HOSPITAL_AVAILABLE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Hospital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Confirmed physical stock ready for usage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Record Kit Usage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1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ISSUE_OPEN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Hospital / Blocked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Blocked due to component defect report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Resolve Component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1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CONSUMED / EXPIRED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Archived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Fully used or expired (retained in history)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PK" sz="1200" b="0" strike="noStrike" spc="-1">
                          <a:solidFill>
                            <a:srgbClr val="475569"/>
                          </a:solidFill>
                          <a:latin typeface="Inter"/>
                        </a:rPr>
                        <a:t>Read-Only Reports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63360" marR="63360" anchor="ctr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5" name="Rectangle 45"/>
          <p:cNvSpPr/>
          <p:nvPr/>
        </p:nvSpPr>
        <p:spPr>
          <a:xfrm>
            <a:off x="576000" y="2683800"/>
            <a:ext cx="27367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16" name="Rectangle 46"/>
          <p:cNvSpPr/>
          <p:nvPr/>
        </p:nvSpPr>
        <p:spPr>
          <a:xfrm>
            <a:off x="3313080" y="2683800"/>
            <a:ext cx="203688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17" name="Rectangle 48"/>
          <p:cNvSpPr/>
          <p:nvPr/>
        </p:nvSpPr>
        <p:spPr>
          <a:xfrm>
            <a:off x="5350320" y="2683800"/>
            <a:ext cx="40741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18" name="Rectangle 49"/>
          <p:cNvSpPr/>
          <p:nvPr/>
        </p:nvSpPr>
        <p:spPr>
          <a:xfrm>
            <a:off x="9424440" y="2683800"/>
            <a:ext cx="2190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19" name="Rectangle 51"/>
          <p:cNvSpPr/>
          <p:nvPr/>
        </p:nvSpPr>
        <p:spPr>
          <a:xfrm>
            <a:off x="576000" y="3226680"/>
            <a:ext cx="27367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0" name="Rectangle 52"/>
          <p:cNvSpPr/>
          <p:nvPr/>
        </p:nvSpPr>
        <p:spPr>
          <a:xfrm>
            <a:off x="3313080" y="3226680"/>
            <a:ext cx="203688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1" name="Rectangle 53"/>
          <p:cNvSpPr/>
          <p:nvPr/>
        </p:nvSpPr>
        <p:spPr>
          <a:xfrm>
            <a:off x="5350320" y="3226680"/>
            <a:ext cx="40741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2" name="Rectangle 54"/>
          <p:cNvSpPr/>
          <p:nvPr/>
        </p:nvSpPr>
        <p:spPr>
          <a:xfrm>
            <a:off x="9424440" y="3226680"/>
            <a:ext cx="2190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3" name="Rectangle 55"/>
          <p:cNvSpPr/>
          <p:nvPr/>
        </p:nvSpPr>
        <p:spPr>
          <a:xfrm>
            <a:off x="576000" y="3769560"/>
            <a:ext cx="27367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4" name="Rectangle 56"/>
          <p:cNvSpPr/>
          <p:nvPr/>
        </p:nvSpPr>
        <p:spPr>
          <a:xfrm>
            <a:off x="3313080" y="3769560"/>
            <a:ext cx="203688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5" name="Rectangle 57"/>
          <p:cNvSpPr/>
          <p:nvPr/>
        </p:nvSpPr>
        <p:spPr>
          <a:xfrm>
            <a:off x="5350320" y="3769560"/>
            <a:ext cx="40741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6" name="Rectangle 58"/>
          <p:cNvSpPr/>
          <p:nvPr/>
        </p:nvSpPr>
        <p:spPr>
          <a:xfrm>
            <a:off x="9424440" y="3769560"/>
            <a:ext cx="2190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7" name="Rectangle 59"/>
          <p:cNvSpPr/>
          <p:nvPr/>
        </p:nvSpPr>
        <p:spPr>
          <a:xfrm>
            <a:off x="576000" y="4312440"/>
            <a:ext cx="27367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8" name="Rectangle 60"/>
          <p:cNvSpPr/>
          <p:nvPr/>
        </p:nvSpPr>
        <p:spPr>
          <a:xfrm>
            <a:off x="3313080" y="4312440"/>
            <a:ext cx="203688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29" name="Rectangle 61"/>
          <p:cNvSpPr/>
          <p:nvPr/>
        </p:nvSpPr>
        <p:spPr>
          <a:xfrm>
            <a:off x="5350320" y="4312440"/>
            <a:ext cx="40741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30" name="Rectangle 62"/>
          <p:cNvSpPr/>
          <p:nvPr/>
        </p:nvSpPr>
        <p:spPr>
          <a:xfrm>
            <a:off x="9424440" y="4312440"/>
            <a:ext cx="2190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31" name="Rectangle 63"/>
          <p:cNvSpPr/>
          <p:nvPr/>
        </p:nvSpPr>
        <p:spPr>
          <a:xfrm>
            <a:off x="576000" y="4855320"/>
            <a:ext cx="27367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32" name="Rectangle 64"/>
          <p:cNvSpPr/>
          <p:nvPr/>
        </p:nvSpPr>
        <p:spPr>
          <a:xfrm>
            <a:off x="3313080" y="4855320"/>
            <a:ext cx="203688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33" name="Rectangle 65"/>
          <p:cNvSpPr/>
          <p:nvPr/>
        </p:nvSpPr>
        <p:spPr>
          <a:xfrm>
            <a:off x="5350320" y="4855320"/>
            <a:ext cx="407412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34" name="Rectangle 66"/>
          <p:cNvSpPr/>
          <p:nvPr/>
        </p:nvSpPr>
        <p:spPr>
          <a:xfrm>
            <a:off x="9424440" y="4855320"/>
            <a:ext cx="2190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lstStyle/>
          <a:p>
            <a:endParaRPr lang="en-PK" sz="1800" b="0" strike="noStrike" spc="-1">
              <a:solidFill>
                <a:schemeClr val="lt1"/>
              </a:solidFill>
              <a:latin typeface="Aptos"/>
            </a:endParaRPr>
          </a:p>
        </p:txBody>
      </p:sp>
      <p:sp>
        <p:nvSpPr>
          <p:cNvPr id="335" name="TextBox 71"/>
          <p:cNvSpPr/>
          <p:nvPr/>
        </p:nvSpPr>
        <p:spPr>
          <a:xfrm>
            <a:off x="571320" y="476280"/>
            <a:ext cx="11600640" cy="41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2700" b="1" strike="noStrike" spc="-1">
                <a:solidFill>
                  <a:srgbClr val="0F172A"/>
                </a:solidFill>
                <a:latin typeface="Plus Jakarta Sans"/>
              </a:rPr>
              <a:t>Inventory Status Lifecycle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2"/>
          <p:cNvSpPr/>
          <p:nvPr/>
        </p:nvSpPr>
        <p:spPr>
          <a:xfrm>
            <a:off x="1472400" y="320040"/>
            <a:ext cx="921564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   Inventory, Expiry &amp; Radioactive Decay Control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Rounded Rectangle 3"/>
          <p:cNvSpPr/>
          <p:nvPr/>
        </p:nvSpPr>
        <p:spPr>
          <a:xfrm>
            <a:off x="640080" y="13258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Rectangle 4"/>
          <p:cNvSpPr/>
          <p:nvPr/>
        </p:nvSpPr>
        <p:spPr>
          <a:xfrm>
            <a:off x="640080" y="1325880"/>
            <a:ext cx="72720" cy="1416960"/>
          </a:xfrm>
          <a:prstGeom prst="rect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TextBox 5"/>
          <p:cNvSpPr/>
          <p:nvPr/>
        </p:nvSpPr>
        <p:spPr>
          <a:xfrm>
            <a:off x="1108800" y="1472040"/>
            <a:ext cx="252792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Warehouse Inventory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6"/>
          <p:cNvSpPr/>
          <p:nvPr/>
        </p:nvSpPr>
        <p:spPr>
          <a:xfrm>
            <a:off x="841320" y="1920240"/>
            <a:ext cx="3062880" cy="7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Stock is created and managed centrally. Managers can prepare standard templates, add kits and initiate hospital transfers.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Rounded Rectangle 7"/>
          <p:cNvSpPr/>
          <p:nvPr/>
        </p:nvSpPr>
        <p:spPr>
          <a:xfrm>
            <a:off x="4389120" y="13258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3" name="Rectangle 8"/>
          <p:cNvSpPr/>
          <p:nvPr/>
        </p:nvSpPr>
        <p:spPr>
          <a:xfrm>
            <a:off x="4389120" y="1325880"/>
            <a:ext cx="72720" cy="1416960"/>
          </a:xfrm>
          <a:prstGeom prst="rect">
            <a:avLst/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9"/>
          <p:cNvSpPr/>
          <p:nvPr/>
        </p:nvSpPr>
        <p:spPr>
          <a:xfrm>
            <a:off x="5010840" y="1472040"/>
            <a:ext cx="2221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Hospital Inventory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10"/>
          <p:cNvSpPr/>
          <p:nvPr/>
        </p:nvSpPr>
        <p:spPr>
          <a:xfrm>
            <a:off x="4590360" y="1920240"/>
            <a:ext cx="3062880" cy="7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Transferred kits appear only after receipt confirmation. Completed or expired kits are removed from active stock.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Rounded Rectangle 11"/>
          <p:cNvSpPr/>
          <p:nvPr/>
        </p:nvSpPr>
        <p:spPr>
          <a:xfrm>
            <a:off x="8138160" y="13258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Rectangle 12"/>
          <p:cNvSpPr/>
          <p:nvPr/>
        </p:nvSpPr>
        <p:spPr>
          <a:xfrm>
            <a:off x="8138160" y="1325880"/>
            <a:ext cx="72720" cy="1416960"/>
          </a:xfrm>
          <a:prstGeom prst="rect">
            <a:avLst/>
          </a:prstGeom>
          <a:solidFill>
            <a:srgbClr val="C2852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TextBox 13"/>
          <p:cNvSpPr/>
          <p:nvPr/>
        </p:nvSpPr>
        <p:spPr>
          <a:xfrm>
            <a:off x="9054720" y="1472040"/>
            <a:ext cx="16318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Expiry Alerts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14"/>
          <p:cNvSpPr/>
          <p:nvPr/>
        </p:nvSpPr>
        <p:spPr>
          <a:xfrm>
            <a:off x="8339400" y="1920240"/>
            <a:ext cx="306288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Admin sees an alert when an inventory item/kit has two months or less remaining.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ounded Rectangle 15"/>
          <p:cNvSpPr/>
          <p:nvPr/>
        </p:nvSpPr>
        <p:spPr>
          <a:xfrm>
            <a:off x="640080" y="3154680"/>
            <a:ext cx="521172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Rectangle 16"/>
          <p:cNvSpPr/>
          <p:nvPr/>
        </p:nvSpPr>
        <p:spPr>
          <a:xfrm>
            <a:off x="640080" y="3154680"/>
            <a:ext cx="72720" cy="1416960"/>
          </a:xfrm>
          <a:prstGeom prst="rect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2" name="TextBox 17"/>
          <p:cNvSpPr/>
          <p:nvPr/>
        </p:nvSpPr>
        <p:spPr>
          <a:xfrm>
            <a:off x="2116800" y="3300840"/>
            <a:ext cx="229500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Imported Materials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Box 18"/>
          <p:cNvSpPr/>
          <p:nvPr/>
        </p:nvSpPr>
        <p:spPr>
          <a:xfrm>
            <a:off x="841320" y="3749040"/>
            <a:ext cx="484596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For internationally ordered radioactive items, travel and injection duration can be incorporated into planning so decay is considered before administration.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Rounded Rectangle 19"/>
          <p:cNvSpPr/>
          <p:nvPr/>
        </p:nvSpPr>
        <p:spPr>
          <a:xfrm>
            <a:off x="6126480" y="3154680"/>
            <a:ext cx="544032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Rectangle 20"/>
          <p:cNvSpPr/>
          <p:nvPr/>
        </p:nvSpPr>
        <p:spPr>
          <a:xfrm>
            <a:off x="6126480" y="3154680"/>
            <a:ext cx="72720" cy="1416960"/>
          </a:xfrm>
          <a:prstGeom prst="rect">
            <a:avLst/>
          </a:prstGeom>
          <a:solidFill>
            <a:srgbClr val="AA434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6" name="TextBox 21"/>
          <p:cNvSpPr/>
          <p:nvPr/>
        </p:nvSpPr>
        <p:spPr>
          <a:xfrm>
            <a:off x="8025480" y="3300840"/>
            <a:ext cx="16790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Expiry Action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22"/>
          <p:cNvSpPr/>
          <p:nvPr/>
        </p:nvSpPr>
        <p:spPr>
          <a:xfrm>
            <a:off x="6327720" y="3749040"/>
            <a:ext cx="507456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“Mark as expired” is available only when the stock is actually expired (including 0 days to expiry). Warehouse and hospital managers can mark unused expired stock.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23"/>
          <p:cNvSpPr/>
          <p:nvPr/>
        </p:nvSpPr>
        <p:spPr>
          <a:xfrm>
            <a:off x="914400" y="5074920"/>
            <a:ext cx="10058040" cy="62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strike="noStrike" spc="-1">
                <a:solidFill>
                  <a:srgbClr val="2D3741"/>
                </a:solidFill>
                <a:latin typeface="Aptos"/>
              </a:rPr>
              <a:t>• All entries carry dates; backdated entries are allowed and surfaced to Admin for review.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strike="noStrike" spc="-1">
                <a:solidFill>
                  <a:srgbClr val="2D3741"/>
                </a:solidFill>
                <a:latin typeface="Aptos"/>
              </a:rPr>
              <a:t>• Warehouse and hospital inventory remain logically separate while preserving transfer history.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26"/>
          <p:cNvSpPr/>
          <p:nvPr/>
        </p:nvSpPr>
        <p:spPr>
          <a:xfrm>
            <a:off x="10986480" y="6528960"/>
            <a:ext cx="24660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strike="noStrike" spc="-1">
                <a:solidFill>
                  <a:srgbClr val="6E7882"/>
                </a:solidFill>
                <a:latin typeface="Aptos"/>
              </a:rPr>
              <a:t>6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TextBox 2"/>
          <p:cNvSpPr/>
          <p:nvPr/>
        </p:nvSpPr>
        <p:spPr>
          <a:xfrm>
            <a:off x="2492280" y="320040"/>
            <a:ext cx="717624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 Kit &amp; Component Issue Management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Box 3"/>
          <p:cNvSpPr/>
          <p:nvPr/>
        </p:nvSpPr>
        <p:spPr>
          <a:xfrm>
            <a:off x="3049200" y="932760"/>
            <a:ext cx="593424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6E7882"/>
                </a:solidFill>
                <a:latin typeface="Aptos"/>
              </a:rPr>
              <a:t>Controlled resolution without component-by-component manual reconciliation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Rounded Rectangle 4"/>
          <p:cNvSpPr/>
          <p:nvPr/>
        </p:nvSpPr>
        <p:spPr>
          <a:xfrm>
            <a:off x="685800" y="1325880"/>
            <a:ext cx="2559960" cy="164592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Rectangle 5"/>
          <p:cNvSpPr/>
          <p:nvPr/>
        </p:nvSpPr>
        <p:spPr>
          <a:xfrm>
            <a:off x="685800" y="1397880"/>
            <a:ext cx="72720" cy="1325520"/>
          </a:xfrm>
          <a:prstGeom prst="rect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TextBox 6"/>
          <p:cNvSpPr/>
          <p:nvPr/>
        </p:nvSpPr>
        <p:spPr>
          <a:xfrm>
            <a:off x="1051560" y="1472040"/>
            <a:ext cx="18651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1. Report Issue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7"/>
          <p:cNvSpPr/>
          <p:nvPr/>
        </p:nvSpPr>
        <p:spPr>
          <a:xfrm>
            <a:off x="887040" y="1920240"/>
            <a:ext cx="2194200" cy="7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Hospital records a kit/component issue associated with the affected run context.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Rounded Rectangle 8"/>
          <p:cNvSpPr/>
          <p:nvPr/>
        </p:nvSpPr>
        <p:spPr>
          <a:xfrm>
            <a:off x="3429000" y="1325880"/>
            <a:ext cx="2559960" cy="164592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8" name="Rectangle 9"/>
          <p:cNvSpPr/>
          <p:nvPr/>
        </p:nvSpPr>
        <p:spPr>
          <a:xfrm>
            <a:off x="3429000" y="1325880"/>
            <a:ext cx="72720" cy="1325520"/>
          </a:xfrm>
          <a:prstGeom prst="rect">
            <a:avLst/>
          </a:prstGeom>
          <a:solidFill>
            <a:srgbClr val="C2852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TextBox 10"/>
          <p:cNvSpPr/>
          <p:nvPr/>
        </p:nvSpPr>
        <p:spPr>
          <a:xfrm>
            <a:off x="3598200" y="1472040"/>
            <a:ext cx="225828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2. Hold Availability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11"/>
          <p:cNvSpPr/>
          <p:nvPr/>
        </p:nvSpPr>
        <p:spPr>
          <a:xfrm>
            <a:off x="3630240" y="1920240"/>
            <a:ext cx="2194200" cy="7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Affected kit is treated as unavailable for use while the issue remains unresolved.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Rounded Rectangle 12"/>
          <p:cNvSpPr/>
          <p:nvPr/>
        </p:nvSpPr>
        <p:spPr>
          <a:xfrm>
            <a:off x="6244920" y="1305720"/>
            <a:ext cx="2670480" cy="164592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Rectangle 13"/>
          <p:cNvSpPr/>
          <p:nvPr/>
        </p:nvSpPr>
        <p:spPr>
          <a:xfrm>
            <a:off x="6172200" y="1397880"/>
            <a:ext cx="72720" cy="1325520"/>
          </a:xfrm>
          <a:prstGeom prst="rect">
            <a:avLst/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14"/>
          <p:cNvSpPr/>
          <p:nvPr/>
        </p:nvSpPr>
        <p:spPr>
          <a:xfrm>
            <a:off x="6213240" y="1471320"/>
            <a:ext cx="273852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3. Warehouse Resolves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5"/>
          <p:cNvSpPr/>
          <p:nvPr/>
        </p:nvSpPr>
        <p:spPr>
          <a:xfrm>
            <a:off x="6373440" y="1920240"/>
            <a:ext cx="2194200" cy="96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Action: “Set as Resolved by Sending Items.” Replacement quantities are not manually resolved per component.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ounded Rectangle 16"/>
          <p:cNvSpPr/>
          <p:nvPr/>
        </p:nvSpPr>
        <p:spPr>
          <a:xfrm>
            <a:off x="9095400" y="1325880"/>
            <a:ext cx="2559960" cy="164592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Rectangle 17"/>
          <p:cNvSpPr/>
          <p:nvPr/>
        </p:nvSpPr>
        <p:spPr>
          <a:xfrm>
            <a:off x="9023400" y="1361880"/>
            <a:ext cx="72720" cy="1325520"/>
          </a:xfrm>
          <a:prstGeom prst="rect">
            <a:avLst/>
          </a:prstGeom>
          <a:solidFill>
            <a:srgbClr val="377D5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18"/>
          <p:cNvSpPr/>
          <p:nvPr/>
        </p:nvSpPr>
        <p:spPr>
          <a:xfrm>
            <a:off x="9173160" y="1472040"/>
            <a:ext cx="24411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4. Hospital Confirms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19"/>
          <p:cNvSpPr/>
          <p:nvPr/>
        </p:nvSpPr>
        <p:spPr>
          <a:xfrm>
            <a:off x="9116640" y="1920240"/>
            <a:ext cx="2194200" cy="7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Replacement is confirmed by the hospital and the issue moves to completed history.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Rounded Rectangle 20"/>
          <p:cNvSpPr/>
          <p:nvPr/>
        </p:nvSpPr>
        <p:spPr>
          <a:xfrm>
            <a:off x="685800" y="3154680"/>
            <a:ext cx="5257440" cy="15998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Rectangle 21"/>
          <p:cNvSpPr/>
          <p:nvPr/>
        </p:nvSpPr>
        <p:spPr>
          <a:xfrm>
            <a:off x="685800" y="3154680"/>
            <a:ext cx="72720" cy="1599840"/>
          </a:xfrm>
          <a:prstGeom prst="rect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22"/>
          <p:cNvSpPr/>
          <p:nvPr/>
        </p:nvSpPr>
        <p:spPr>
          <a:xfrm>
            <a:off x="1645920" y="3300840"/>
            <a:ext cx="337392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Warehouse Issue Workspace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23"/>
          <p:cNvSpPr/>
          <p:nvPr/>
        </p:nvSpPr>
        <p:spPr>
          <a:xfrm>
            <a:off x="887040" y="3749040"/>
            <a:ext cx="489168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Two tabs: Resolve Issue and Waiting Confirmation. Once resolved, the issue leaves the selectable unresolved list and waits for hospital confirmation.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Rounded Rectangle 24"/>
          <p:cNvSpPr/>
          <p:nvPr/>
        </p:nvSpPr>
        <p:spPr>
          <a:xfrm>
            <a:off x="6172200" y="3154680"/>
            <a:ext cx="5257440" cy="15998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Rectangle 25"/>
          <p:cNvSpPr/>
          <p:nvPr/>
        </p:nvSpPr>
        <p:spPr>
          <a:xfrm>
            <a:off x="6172200" y="3154680"/>
            <a:ext cx="72720" cy="1599840"/>
          </a:xfrm>
          <a:prstGeom prst="rect">
            <a:avLst/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TextBox 26"/>
          <p:cNvSpPr/>
          <p:nvPr/>
        </p:nvSpPr>
        <p:spPr>
          <a:xfrm>
            <a:off x="7285320" y="3300840"/>
            <a:ext cx="3067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Hospital Issue Workspace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27"/>
          <p:cNvSpPr/>
          <p:nvPr/>
        </p:nvSpPr>
        <p:spPr>
          <a:xfrm>
            <a:off x="6373440" y="3749040"/>
            <a:ext cx="4891680" cy="44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Two tabs: Kits and Components by Kit. Components by Kit supports filtering by Kit ID to identify affected components.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Box 28"/>
          <p:cNvSpPr/>
          <p:nvPr/>
        </p:nvSpPr>
        <p:spPr>
          <a:xfrm>
            <a:off x="914400" y="5166360"/>
            <a:ext cx="10058040" cy="62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strike="noStrike" spc="-1">
                <a:solidFill>
                  <a:srgbClr val="2D3741"/>
                </a:solidFill>
                <a:latin typeface="Aptos"/>
              </a:rPr>
              <a:t>• Every issue remains traceable through issue history and administrative reporting.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strike="noStrike" spc="-1">
                <a:solidFill>
                  <a:srgbClr val="2D3741"/>
                </a:solidFill>
                <a:latin typeface="Aptos"/>
              </a:rPr>
              <a:t>• Replacement/confirmation status prevents duplicate resolution actions.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31"/>
          <p:cNvSpPr/>
          <p:nvPr/>
        </p:nvSpPr>
        <p:spPr>
          <a:xfrm>
            <a:off x="10986480" y="6528960"/>
            <a:ext cx="24660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strike="noStrike" spc="-1">
                <a:solidFill>
                  <a:srgbClr val="6E7882"/>
                </a:solidFill>
                <a:latin typeface="Aptos"/>
              </a:rPr>
              <a:t>7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TextBox 2"/>
          <p:cNvSpPr/>
          <p:nvPr/>
        </p:nvSpPr>
        <p:spPr>
          <a:xfrm>
            <a:off x="1973880" y="320040"/>
            <a:ext cx="821268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Production, Daily Summary &amp; Performance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ounded Rectangle 3"/>
          <p:cNvSpPr/>
          <p:nvPr/>
        </p:nvSpPr>
        <p:spPr>
          <a:xfrm>
            <a:off x="640080" y="13258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Rectangle 4"/>
          <p:cNvSpPr/>
          <p:nvPr/>
        </p:nvSpPr>
        <p:spPr>
          <a:xfrm>
            <a:off x="640080" y="1325880"/>
            <a:ext cx="72720" cy="1416960"/>
          </a:xfrm>
          <a:prstGeom prst="rect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TextBox 5"/>
          <p:cNvSpPr/>
          <p:nvPr/>
        </p:nvSpPr>
        <p:spPr>
          <a:xfrm>
            <a:off x="1413360" y="1472040"/>
            <a:ext cx="19184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ABT Production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6"/>
          <p:cNvSpPr/>
          <p:nvPr/>
        </p:nvSpPr>
        <p:spPr>
          <a:xfrm>
            <a:off x="841320" y="1920240"/>
            <a:ext cx="306288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Record production runs, activity received (mCi), failures/mishandling and machine-specific performance.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Rounded Rectangle 7"/>
          <p:cNvSpPr/>
          <p:nvPr/>
        </p:nvSpPr>
        <p:spPr>
          <a:xfrm>
            <a:off x="4389120" y="13258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Rectangle 8"/>
          <p:cNvSpPr/>
          <p:nvPr/>
        </p:nvSpPr>
        <p:spPr>
          <a:xfrm>
            <a:off x="4389120" y="1325880"/>
            <a:ext cx="72720" cy="1416960"/>
          </a:xfrm>
          <a:prstGeom prst="rect">
            <a:avLst/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TextBox 9"/>
          <p:cNvSpPr/>
          <p:nvPr/>
        </p:nvSpPr>
        <p:spPr>
          <a:xfrm>
            <a:off x="5052600" y="1472040"/>
            <a:ext cx="21380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Trasis Production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10"/>
          <p:cNvSpPr/>
          <p:nvPr/>
        </p:nvSpPr>
        <p:spPr>
          <a:xfrm>
            <a:off x="4590360" y="1920240"/>
            <a:ext cx="306288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Track Trasis runs separately from ABT for clear operational and performance reporting.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Rounded Rectangle 11"/>
          <p:cNvSpPr/>
          <p:nvPr/>
        </p:nvSpPr>
        <p:spPr>
          <a:xfrm>
            <a:off x="8138160" y="13258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Rectangle 12"/>
          <p:cNvSpPr/>
          <p:nvPr/>
        </p:nvSpPr>
        <p:spPr>
          <a:xfrm>
            <a:off x="8138160" y="1325880"/>
            <a:ext cx="72720" cy="1416960"/>
          </a:xfrm>
          <a:prstGeom prst="rect">
            <a:avLst/>
          </a:prstGeom>
          <a:solidFill>
            <a:srgbClr val="377D5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13"/>
          <p:cNvSpPr/>
          <p:nvPr/>
        </p:nvSpPr>
        <p:spPr>
          <a:xfrm>
            <a:off x="8449920" y="1472040"/>
            <a:ext cx="28418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Daily Hospital Summary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14"/>
          <p:cNvSpPr/>
          <p:nvPr/>
        </p:nvSpPr>
        <p:spPr>
          <a:xfrm>
            <a:off x="8339400" y="1920240"/>
            <a:ext cx="3062880" cy="79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Daily counts of ABT/Trasis runs, activity and total patients served. This is the single location for kit usage tracking.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Rounded Rectangle 15"/>
          <p:cNvSpPr/>
          <p:nvPr/>
        </p:nvSpPr>
        <p:spPr>
          <a:xfrm>
            <a:off x="640080" y="31546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Rectangle 16"/>
          <p:cNvSpPr/>
          <p:nvPr/>
        </p:nvSpPr>
        <p:spPr>
          <a:xfrm>
            <a:off x="640080" y="3154680"/>
            <a:ext cx="72720" cy="1416960"/>
          </a:xfrm>
          <a:prstGeom prst="rect">
            <a:avLst/>
          </a:prstGeom>
          <a:solidFill>
            <a:srgbClr val="AA434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5" name="TextBox 17"/>
          <p:cNvSpPr/>
          <p:nvPr/>
        </p:nvSpPr>
        <p:spPr>
          <a:xfrm>
            <a:off x="1838520" y="3300840"/>
            <a:ext cx="106812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Failures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18"/>
          <p:cNvSpPr/>
          <p:nvPr/>
        </p:nvSpPr>
        <p:spPr>
          <a:xfrm>
            <a:off x="841320" y="3749040"/>
            <a:ext cx="306288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Capture production failures such as equipment/card faults, mishandling or other operational causes.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Rounded Rectangle 19"/>
          <p:cNvSpPr/>
          <p:nvPr/>
        </p:nvSpPr>
        <p:spPr>
          <a:xfrm>
            <a:off x="4389120" y="31546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8" name="Rectangle 20"/>
          <p:cNvSpPr/>
          <p:nvPr/>
        </p:nvSpPr>
        <p:spPr>
          <a:xfrm>
            <a:off x="4389120" y="3154680"/>
            <a:ext cx="72720" cy="1416960"/>
          </a:xfrm>
          <a:prstGeom prst="rect">
            <a:avLst/>
          </a:prstGeom>
          <a:solidFill>
            <a:srgbClr val="C2852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TextBox 21"/>
          <p:cNvSpPr/>
          <p:nvPr/>
        </p:nvSpPr>
        <p:spPr>
          <a:xfrm>
            <a:off x="5475600" y="3300840"/>
            <a:ext cx="12920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Downtime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22"/>
          <p:cNvSpPr/>
          <p:nvPr/>
        </p:nvSpPr>
        <p:spPr>
          <a:xfrm>
            <a:off x="4590360" y="3749040"/>
            <a:ext cx="306288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Record equipment downtime and analyze its impact by site, machine and date range.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Rounded Rectangle 23"/>
          <p:cNvSpPr/>
          <p:nvPr/>
        </p:nvSpPr>
        <p:spPr>
          <a:xfrm>
            <a:off x="8138160" y="315468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2" name="Rectangle 24"/>
          <p:cNvSpPr/>
          <p:nvPr/>
        </p:nvSpPr>
        <p:spPr>
          <a:xfrm>
            <a:off x="8138160" y="3154680"/>
            <a:ext cx="72720" cy="1416960"/>
          </a:xfrm>
          <a:prstGeom prst="rect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3" name="TextBox 25"/>
          <p:cNvSpPr/>
          <p:nvPr/>
        </p:nvSpPr>
        <p:spPr>
          <a:xfrm>
            <a:off x="9068400" y="3300840"/>
            <a:ext cx="160452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B49"/>
                </a:solidFill>
                <a:latin typeface="Aptos"/>
              </a:rPr>
              <a:t>Performance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Box 26"/>
          <p:cNvSpPr/>
          <p:nvPr/>
        </p:nvSpPr>
        <p:spPr>
          <a:xfrm>
            <a:off x="8339400" y="3749040"/>
            <a:ext cx="3062880" cy="61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2D3741"/>
                </a:solidFill>
                <a:latin typeface="Aptos"/>
              </a:rPr>
              <a:t>Date/site filters support ABT and Trasis comparisons across production, patients, failures and downtime.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Rectangle 27"/>
          <p:cNvSpPr/>
          <p:nvPr/>
        </p:nvSpPr>
        <p:spPr>
          <a:xfrm>
            <a:off x="594360" y="6510600"/>
            <a:ext cx="10972440" cy="18000"/>
          </a:xfrm>
          <a:prstGeom prst="rect">
            <a:avLst/>
          </a:prstGeom>
          <a:solidFill>
            <a:srgbClr val="DAE4E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TextBox 28"/>
          <p:cNvSpPr/>
          <p:nvPr/>
        </p:nvSpPr>
        <p:spPr>
          <a:xfrm>
            <a:off x="3719880" y="6546960"/>
            <a:ext cx="3404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strike="noStrike" spc="-1">
                <a:solidFill>
                  <a:srgbClr val="6E7882"/>
                </a:solidFill>
                <a:latin typeface="Aptos"/>
              </a:rPr>
              <a:t>Nuclear Medicine Inventory &amp; Operations Management System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29"/>
          <p:cNvSpPr/>
          <p:nvPr/>
        </p:nvSpPr>
        <p:spPr>
          <a:xfrm>
            <a:off x="10986480" y="6528960"/>
            <a:ext cx="24660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strike="noStrike" spc="-1">
                <a:solidFill>
                  <a:srgbClr val="6E7882"/>
                </a:solidFill>
                <a:latin typeface="Aptos"/>
              </a:rPr>
              <a:t>8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Box 2"/>
          <p:cNvSpPr/>
          <p:nvPr/>
        </p:nvSpPr>
        <p:spPr>
          <a:xfrm>
            <a:off x="2766240" y="2743200"/>
            <a:ext cx="637776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142B49"/>
                </a:solidFill>
                <a:latin typeface="Aptos Display"/>
              </a:rPr>
              <a:t>HOW WE DID IT?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0" name="TextBox 2"/>
          <p:cNvSpPr/>
          <p:nvPr/>
        </p:nvSpPr>
        <p:spPr>
          <a:xfrm>
            <a:off x="4317480" y="320040"/>
            <a:ext cx="352476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Technology Stack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3"/>
          <p:cNvSpPr/>
          <p:nvPr/>
        </p:nvSpPr>
        <p:spPr>
          <a:xfrm>
            <a:off x="3137760" y="932760"/>
            <a:ext cx="575748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6E7882"/>
                </a:solidFill>
                <a:latin typeface="Aptos"/>
              </a:rPr>
              <a:t>Cloud-first architecture suitable for Streamlit Community Cloud deployment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Rounded Rectangle 4"/>
          <p:cNvSpPr/>
          <p:nvPr/>
        </p:nvSpPr>
        <p:spPr>
          <a:xfrm>
            <a:off x="594360" y="1234440"/>
            <a:ext cx="3520080" cy="11426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3" name="Rectangle 5"/>
          <p:cNvSpPr/>
          <p:nvPr/>
        </p:nvSpPr>
        <p:spPr>
          <a:xfrm>
            <a:off x="594360" y="1234440"/>
            <a:ext cx="72720" cy="1142640"/>
          </a:xfrm>
          <a:prstGeom prst="rect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TextBox 6"/>
          <p:cNvSpPr/>
          <p:nvPr/>
        </p:nvSpPr>
        <p:spPr>
          <a:xfrm>
            <a:off x="1573560" y="1380600"/>
            <a:ext cx="15984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Frontend / App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Box 7"/>
          <p:cNvSpPr/>
          <p:nvPr/>
        </p:nvSpPr>
        <p:spPr>
          <a:xfrm>
            <a:off x="795600" y="1828800"/>
            <a:ext cx="31543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Streamlit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Interactive role-based web interface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Rounded Rectangle 8"/>
          <p:cNvSpPr/>
          <p:nvPr/>
        </p:nvSpPr>
        <p:spPr>
          <a:xfrm>
            <a:off x="4480560" y="1234440"/>
            <a:ext cx="3520080" cy="11426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Rectangle 9"/>
          <p:cNvSpPr/>
          <p:nvPr/>
        </p:nvSpPr>
        <p:spPr>
          <a:xfrm>
            <a:off x="4480560" y="1234440"/>
            <a:ext cx="72720" cy="1142640"/>
          </a:xfrm>
          <a:prstGeom prst="rect">
            <a:avLst/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TextBox 10"/>
          <p:cNvSpPr/>
          <p:nvPr/>
        </p:nvSpPr>
        <p:spPr>
          <a:xfrm>
            <a:off x="5449680" y="1380600"/>
            <a:ext cx="16182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Backend Logic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11"/>
          <p:cNvSpPr/>
          <p:nvPr/>
        </p:nvSpPr>
        <p:spPr>
          <a:xfrm>
            <a:off x="4681800" y="1828800"/>
            <a:ext cx="31543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Python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Business rules, validation, workflows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Rounded Rectangle 12"/>
          <p:cNvSpPr/>
          <p:nvPr/>
        </p:nvSpPr>
        <p:spPr>
          <a:xfrm>
            <a:off x="8366760" y="1234440"/>
            <a:ext cx="3520080" cy="11426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Rectangle 13"/>
          <p:cNvSpPr/>
          <p:nvPr/>
        </p:nvSpPr>
        <p:spPr>
          <a:xfrm>
            <a:off x="8366760" y="1234440"/>
            <a:ext cx="72720" cy="1142640"/>
          </a:xfrm>
          <a:prstGeom prst="rect">
            <a:avLst/>
          </a:prstGeom>
          <a:solidFill>
            <a:srgbClr val="377D5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14"/>
          <p:cNvSpPr/>
          <p:nvPr/>
        </p:nvSpPr>
        <p:spPr>
          <a:xfrm>
            <a:off x="9595080" y="1380600"/>
            <a:ext cx="11001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Database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15"/>
          <p:cNvSpPr/>
          <p:nvPr/>
        </p:nvSpPr>
        <p:spPr>
          <a:xfrm>
            <a:off x="8568000" y="1828800"/>
            <a:ext cx="3154320" cy="25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Supabase 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Rounded Rectangle 16"/>
          <p:cNvSpPr/>
          <p:nvPr/>
        </p:nvSpPr>
        <p:spPr>
          <a:xfrm>
            <a:off x="594360" y="2651760"/>
            <a:ext cx="3520080" cy="11426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Rectangle 17"/>
          <p:cNvSpPr/>
          <p:nvPr/>
        </p:nvSpPr>
        <p:spPr>
          <a:xfrm>
            <a:off x="594360" y="2651760"/>
            <a:ext cx="72720" cy="1142640"/>
          </a:xfrm>
          <a:prstGeom prst="rect">
            <a:avLst/>
          </a:prstGeom>
          <a:solidFill>
            <a:srgbClr val="142B4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TextBox 18"/>
          <p:cNvSpPr/>
          <p:nvPr/>
        </p:nvSpPr>
        <p:spPr>
          <a:xfrm>
            <a:off x="1561320" y="2797920"/>
            <a:ext cx="1622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Authentication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19"/>
          <p:cNvSpPr/>
          <p:nvPr/>
        </p:nvSpPr>
        <p:spPr>
          <a:xfrm>
            <a:off x="795600" y="3246120"/>
            <a:ext cx="31543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Supabase Auth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User authentication and role-aware access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Rounded Rectangle 20"/>
          <p:cNvSpPr/>
          <p:nvPr/>
        </p:nvSpPr>
        <p:spPr>
          <a:xfrm>
            <a:off x="4480560" y="2651760"/>
            <a:ext cx="3520080" cy="11426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9" name="Rectangle 21"/>
          <p:cNvSpPr/>
          <p:nvPr/>
        </p:nvSpPr>
        <p:spPr>
          <a:xfrm>
            <a:off x="4480560" y="2651760"/>
            <a:ext cx="72720" cy="1142640"/>
          </a:xfrm>
          <a:prstGeom prst="rect">
            <a:avLst/>
          </a:prstGeom>
          <a:solidFill>
            <a:srgbClr val="2A5B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TextBox 22"/>
          <p:cNvSpPr/>
          <p:nvPr/>
        </p:nvSpPr>
        <p:spPr>
          <a:xfrm>
            <a:off x="5346720" y="2797920"/>
            <a:ext cx="18241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Data &amp; Analytics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23"/>
          <p:cNvSpPr/>
          <p:nvPr/>
        </p:nvSpPr>
        <p:spPr>
          <a:xfrm>
            <a:off x="4681800" y="3246120"/>
            <a:ext cx="3154320" cy="56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Pandas + Streamlit Charts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Reporting, summaries and performance views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Rounded Rectangle 24"/>
          <p:cNvSpPr/>
          <p:nvPr/>
        </p:nvSpPr>
        <p:spPr>
          <a:xfrm>
            <a:off x="8366760" y="2651760"/>
            <a:ext cx="3520080" cy="11426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3" name="Rectangle 25"/>
          <p:cNvSpPr/>
          <p:nvPr/>
        </p:nvSpPr>
        <p:spPr>
          <a:xfrm>
            <a:off x="8366760" y="2651760"/>
            <a:ext cx="72720" cy="1142640"/>
          </a:xfrm>
          <a:prstGeom prst="rect">
            <a:avLst/>
          </a:prstGeom>
          <a:solidFill>
            <a:srgbClr val="377D5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26"/>
          <p:cNvSpPr/>
          <p:nvPr/>
        </p:nvSpPr>
        <p:spPr>
          <a:xfrm>
            <a:off x="9428040" y="2797920"/>
            <a:ext cx="1433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Excel Export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Box 27"/>
          <p:cNvSpPr/>
          <p:nvPr/>
        </p:nvSpPr>
        <p:spPr>
          <a:xfrm>
            <a:off x="8568000" y="3246120"/>
            <a:ext cx="31543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XlsxWriter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Multi-sheet Excel workbooks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Rounded Rectangle 28"/>
          <p:cNvSpPr/>
          <p:nvPr/>
        </p:nvSpPr>
        <p:spPr>
          <a:xfrm>
            <a:off x="594360" y="4069080"/>
            <a:ext cx="3520080" cy="11426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7" name="Rectangle 29"/>
          <p:cNvSpPr/>
          <p:nvPr/>
        </p:nvSpPr>
        <p:spPr>
          <a:xfrm>
            <a:off x="594360" y="4069080"/>
            <a:ext cx="72720" cy="1142640"/>
          </a:xfrm>
          <a:prstGeom prst="rect">
            <a:avLst/>
          </a:prstGeom>
          <a:solidFill>
            <a:srgbClr val="C2852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30"/>
          <p:cNvSpPr/>
          <p:nvPr/>
        </p:nvSpPr>
        <p:spPr>
          <a:xfrm>
            <a:off x="2177640" y="4215240"/>
            <a:ext cx="3898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AI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31"/>
          <p:cNvSpPr/>
          <p:nvPr/>
        </p:nvSpPr>
        <p:spPr>
          <a:xfrm>
            <a:off x="795600" y="4663440"/>
            <a:ext cx="31543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Gemini 3.6 Flash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Admin AI / RAG-assisted analysis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Rounded Rectangle 32"/>
          <p:cNvSpPr/>
          <p:nvPr/>
        </p:nvSpPr>
        <p:spPr>
          <a:xfrm>
            <a:off x="4480560" y="4069080"/>
            <a:ext cx="3520080" cy="11426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Rectangle 33"/>
          <p:cNvSpPr/>
          <p:nvPr/>
        </p:nvSpPr>
        <p:spPr>
          <a:xfrm>
            <a:off x="4480560" y="4069080"/>
            <a:ext cx="72720" cy="1142640"/>
          </a:xfrm>
          <a:prstGeom prst="rect">
            <a:avLst/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TextBox 34"/>
          <p:cNvSpPr/>
          <p:nvPr/>
        </p:nvSpPr>
        <p:spPr>
          <a:xfrm>
            <a:off x="5590800" y="4215240"/>
            <a:ext cx="133632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Deployment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35"/>
          <p:cNvSpPr/>
          <p:nvPr/>
        </p:nvSpPr>
        <p:spPr>
          <a:xfrm>
            <a:off x="4681800" y="4663440"/>
            <a:ext cx="31543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Streamlit Community Cloud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Cloud-hosted application delivery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Rounded Rectangle 36"/>
          <p:cNvSpPr/>
          <p:nvPr/>
        </p:nvSpPr>
        <p:spPr>
          <a:xfrm>
            <a:off x="8366760" y="4069080"/>
            <a:ext cx="3520080" cy="11426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Rectangle 37"/>
          <p:cNvSpPr/>
          <p:nvPr/>
        </p:nvSpPr>
        <p:spPr>
          <a:xfrm>
            <a:off x="8366760" y="4069080"/>
            <a:ext cx="72720" cy="1142640"/>
          </a:xfrm>
          <a:prstGeom prst="rect">
            <a:avLst/>
          </a:prstGeom>
          <a:solidFill>
            <a:srgbClr val="2D374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TextBox 38"/>
          <p:cNvSpPr/>
          <p:nvPr/>
        </p:nvSpPr>
        <p:spPr>
          <a:xfrm>
            <a:off x="9323640" y="4215240"/>
            <a:ext cx="16426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Source Control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Box 39"/>
          <p:cNvSpPr/>
          <p:nvPr/>
        </p:nvSpPr>
        <p:spPr>
          <a:xfrm>
            <a:off x="8568000" y="4663440"/>
            <a:ext cx="315432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GitHub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2D3741"/>
                </a:solidFill>
                <a:latin typeface="Aptos"/>
              </a:rPr>
              <a:t>Version control and deployment source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Rectangle 40"/>
          <p:cNvSpPr/>
          <p:nvPr/>
        </p:nvSpPr>
        <p:spPr>
          <a:xfrm>
            <a:off x="594360" y="6510600"/>
            <a:ext cx="10972440" cy="18000"/>
          </a:xfrm>
          <a:prstGeom prst="rect">
            <a:avLst/>
          </a:prstGeom>
          <a:solidFill>
            <a:srgbClr val="DAE4E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lstStyle/>
          <a:p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9" name="TextBox 41"/>
          <p:cNvSpPr/>
          <p:nvPr/>
        </p:nvSpPr>
        <p:spPr>
          <a:xfrm>
            <a:off x="3719880" y="6546960"/>
            <a:ext cx="3404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00" b="0" strike="noStrike" spc="-1">
                <a:solidFill>
                  <a:srgbClr val="6E7882"/>
                </a:solidFill>
                <a:latin typeface="Aptos"/>
              </a:rPr>
              <a:t>Nuclear Medicine Inventory &amp; Operations Management System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Box 42"/>
          <p:cNvSpPr/>
          <p:nvPr/>
        </p:nvSpPr>
        <p:spPr>
          <a:xfrm>
            <a:off x="10953720" y="6528960"/>
            <a:ext cx="3121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strike="noStrike" spc="-1">
                <a:solidFill>
                  <a:srgbClr val="6E7882"/>
                </a:solidFill>
                <a:latin typeface="Aptos"/>
              </a:rPr>
              <a:t>11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TextBox 2"/>
          <p:cNvSpPr/>
          <p:nvPr/>
        </p:nvSpPr>
        <p:spPr>
          <a:xfrm>
            <a:off x="2845080" y="320040"/>
            <a:ext cx="647064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strike="noStrike" spc="-1">
                <a:solidFill>
                  <a:srgbClr val="142B49"/>
                </a:solidFill>
                <a:latin typeface="Aptos Display"/>
              </a:rPr>
              <a:t>   High-Level System Architecture</a:t>
            </a:r>
            <a:endParaRPr lang="en-US" sz="2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Box 3"/>
          <p:cNvSpPr/>
          <p:nvPr/>
        </p:nvSpPr>
        <p:spPr>
          <a:xfrm>
            <a:off x="3193200" y="932760"/>
            <a:ext cx="564624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strike="noStrike" spc="-1">
                <a:solidFill>
                  <a:srgbClr val="6E7882"/>
                </a:solidFill>
                <a:latin typeface="Aptos"/>
              </a:rPr>
              <a:t>Cloud-hosted application with centralized database and role-aware access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Rounded Rectangle 4"/>
          <p:cNvSpPr/>
          <p:nvPr/>
        </p:nvSpPr>
        <p:spPr>
          <a:xfrm>
            <a:off x="640080" y="1417320"/>
            <a:ext cx="2148480" cy="9140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 w="25400">
            <a:solidFill>
              <a:srgbClr val="142B4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TextBox 5"/>
          <p:cNvSpPr/>
          <p:nvPr/>
        </p:nvSpPr>
        <p:spPr>
          <a:xfrm>
            <a:off x="1007280" y="1527120"/>
            <a:ext cx="1414080" cy="73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Users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strike="noStrike" spc="-1">
                <a:solidFill>
                  <a:srgbClr val="2D3741"/>
                </a:solidFill>
                <a:latin typeface="Aptos"/>
              </a:rPr>
              <a:t>Admin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strike="noStrike" spc="-1">
                <a:solidFill>
                  <a:srgbClr val="2D3741"/>
                </a:solidFill>
                <a:latin typeface="Aptos"/>
              </a:rPr>
              <a:t>Warehouse Manager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strike="noStrike" spc="-1">
                <a:solidFill>
                  <a:srgbClr val="2D3741"/>
                </a:solidFill>
                <a:latin typeface="Aptos"/>
              </a:rPr>
              <a:t>Hospital Manager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Rounded Rectangle 6"/>
          <p:cNvSpPr/>
          <p:nvPr/>
        </p:nvSpPr>
        <p:spPr>
          <a:xfrm>
            <a:off x="3246120" y="1417320"/>
            <a:ext cx="2285640" cy="9140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 w="25400">
            <a:solidFill>
              <a:srgbClr val="2A5B9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7" name="TextBox 7"/>
          <p:cNvSpPr/>
          <p:nvPr/>
        </p:nvSpPr>
        <p:spPr>
          <a:xfrm>
            <a:off x="3736800" y="1527120"/>
            <a:ext cx="1304280" cy="59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Application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strike="noStrike" spc="-1">
                <a:solidFill>
                  <a:srgbClr val="2D3741"/>
                </a:solidFill>
                <a:latin typeface="Aptos"/>
              </a:rPr>
              <a:t>Streamlit Web App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strike="noStrike" spc="-1">
                <a:solidFill>
                  <a:srgbClr val="2D3741"/>
                </a:solidFill>
                <a:latin typeface="Aptos"/>
              </a:rPr>
              <a:t>Python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Rounded Rectangle 8"/>
          <p:cNvSpPr/>
          <p:nvPr/>
        </p:nvSpPr>
        <p:spPr>
          <a:xfrm>
            <a:off x="5989320" y="1417320"/>
            <a:ext cx="2285640" cy="9140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 w="25400">
            <a:solidFill>
              <a:srgbClr val="1F7D8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9" name="TextBox 9"/>
          <p:cNvSpPr/>
          <p:nvPr/>
        </p:nvSpPr>
        <p:spPr>
          <a:xfrm>
            <a:off x="6320520" y="1527120"/>
            <a:ext cx="1622880" cy="59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Authentication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strike="noStrike" spc="-1">
                <a:solidFill>
                  <a:srgbClr val="2D3741"/>
                </a:solidFill>
                <a:latin typeface="Aptos"/>
              </a:rPr>
              <a:t>Supabase Auth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strike="noStrike" spc="-1">
                <a:solidFill>
                  <a:srgbClr val="2D3741"/>
                </a:solidFill>
                <a:latin typeface="Aptos"/>
              </a:rPr>
              <a:t>Role-based access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Rounded Rectangle 10"/>
          <p:cNvSpPr/>
          <p:nvPr/>
        </p:nvSpPr>
        <p:spPr>
          <a:xfrm>
            <a:off x="8732520" y="1417320"/>
            <a:ext cx="2651400" cy="91404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 w="25400">
            <a:solidFill>
              <a:srgbClr val="377D5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TextBox 11"/>
          <p:cNvSpPr/>
          <p:nvPr/>
        </p:nvSpPr>
        <p:spPr>
          <a:xfrm>
            <a:off x="9507960" y="1527120"/>
            <a:ext cx="1100160" cy="44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142B49"/>
                </a:solidFill>
                <a:latin typeface="Aptos"/>
              </a:rPr>
              <a:t>Database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strike="noStrike" spc="-1">
                <a:solidFill>
                  <a:srgbClr val="2D3741"/>
                </a:solidFill>
                <a:latin typeface="Aptos"/>
              </a:rPr>
              <a:t>Supabase 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72" name="Connector 12"/>
          <p:cNvCxnSpPr/>
          <p:nvPr/>
        </p:nvCxnSpPr>
        <p:spPr>
          <a:xfrm>
            <a:off x="2788920" y="1874160"/>
            <a:ext cx="457560" cy="360"/>
          </a:xfrm>
          <a:prstGeom prst="straightConnector1">
            <a:avLst/>
          </a:prstGeom>
          <a:ln w="31750">
            <a:solidFill>
              <a:srgbClr val="DAE4ED"/>
            </a:solidFill>
            <a:round/>
          </a:ln>
        </p:spPr>
      </p:cxnSp>
      <p:cxnSp>
        <p:nvCxnSpPr>
          <p:cNvPr id="473" name="Connector 13"/>
          <p:cNvCxnSpPr/>
          <p:nvPr/>
        </p:nvCxnSpPr>
        <p:spPr>
          <a:xfrm>
            <a:off x="5532120" y="1874160"/>
            <a:ext cx="457560" cy="360"/>
          </a:xfrm>
          <a:prstGeom prst="straightConnector1">
            <a:avLst/>
          </a:prstGeom>
          <a:ln w="31750">
            <a:solidFill>
              <a:srgbClr val="DAE4ED"/>
            </a:solidFill>
            <a:round/>
          </a:ln>
        </p:spPr>
      </p:cxnSp>
      <p:cxnSp>
        <p:nvCxnSpPr>
          <p:cNvPr id="474" name="Connector 14"/>
          <p:cNvCxnSpPr/>
          <p:nvPr/>
        </p:nvCxnSpPr>
        <p:spPr>
          <a:xfrm>
            <a:off x="8275320" y="1874160"/>
            <a:ext cx="457560" cy="360"/>
          </a:xfrm>
          <a:prstGeom prst="straightConnector1">
            <a:avLst/>
          </a:prstGeom>
          <a:ln w="31750">
            <a:solidFill>
              <a:srgbClr val="DAE4ED"/>
            </a:solidFill>
            <a:round/>
          </a:ln>
        </p:spPr>
      </p:cxnSp>
      <p:sp>
        <p:nvSpPr>
          <p:cNvPr id="475" name="Rounded Rectangle 19"/>
          <p:cNvSpPr/>
          <p:nvPr/>
        </p:nvSpPr>
        <p:spPr>
          <a:xfrm>
            <a:off x="3337920" y="3246120"/>
            <a:ext cx="4754520" cy="868320"/>
          </a:xfrm>
          <a:prstGeom prst="roundRect">
            <a:avLst>
              <a:gd name="adj" fmla="val 16667"/>
            </a:avLst>
          </a:prstGeom>
          <a:solidFill>
            <a:srgbClr val="EDF5F7"/>
          </a:solidFill>
          <a:ln w="25400">
            <a:solidFill>
              <a:srgbClr val="1F7D8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42B49"/>
                </a:solidFill>
                <a:latin typeface="Aptos"/>
              </a:rPr>
              <a:t>Admin AI / RAG Layer  •  Gemini 3.6 Flash  •  Database-grounded analysis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Rounded Rectangle 20"/>
          <p:cNvSpPr/>
          <p:nvPr/>
        </p:nvSpPr>
        <p:spPr>
          <a:xfrm>
            <a:off x="8458560" y="3200400"/>
            <a:ext cx="2514240" cy="1325880"/>
          </a:xfrm>
          <a:prstGeom prst="roundRect">
            <a:avLst>
              <a:gd name="adj" fmla="val 16667"/>
            </a:avLst>
          </a:prstGeom>
          <a:solidFill>
            <a:srgbClr val="F2F6F9"/>
          </a:solidFill>
          <a:ln>
            <a:solidFill>
              <a:srgbClr val="DAE4E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Rectangle 21"/>
          <p:cNvSpPr/>
          <p:nvPr/>
        </p:nvSpPr>
        <p:spPr>
          <a:xfrm>
            <a:off x="8458560" y="3200400"/>
            <a:ext cx="72720" cy="959760"/>
          </a:xfrm>
          <a:prstGeom prst="rect">
            <a:avLst/>
          </a:prstGeom>
          <a:solidFill>
            <a:srgbClr val="C2852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TextBox 22"/>
          <p:cNvSpPr/>
          <p:nvPr/>
        </p:nvSpPr>
        <p:spPr>
          <a:xfrm>
            <a:off x="8976600" y="3346560"/>
            <a:ext cx="15145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142B49"/>
                </a:solidFill>
                <a:latin typeface="Aptos"/>
              </a:rPr>
              <a:t>AI Key Handling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23"/>
          <p:cNvSpPr/>
          <p:nvPr/>
        </p:nvSpPr>
        <p:spPr>
          <a:xfrm>
            <a:off x="8659800" y="3794760"/>
            <a:ext cx="2148480" cy="52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strike="noStrike" spc="-1">
                <a:solidFill>
                  <a:srgbClr val="2D3741"/>
                </a:solidFill>
                <a:latin typeface="Aptos"/>
              </a:rPr>
              <a:t>Admin enters Gemini API key in the AI section; key should not be hard-coded in source control.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26"/>
          <p:cNvSpPr/>
          <p:nvPr/>
        </p:nvSpPr>
        <p:spPr>
          <a:xfrm>
            <a:off x="10953720" y="6528960"/>
            <a:ext cx="3121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strike="noStrike" spc="-1">
                <a:solidFill>
                  <a:srgbClr val="6E7882"/>
                </a:solidFill>
                <a:latin typeface="Aptos"/>
              </a:rPr>
              <a:t>10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extBox 8"/>
          <p:cNvSpPr/>
          <p:nvPr/>
        </p:nvSpPr>
        <p:spPr>
          <a:xfrm>
            <a:off x="1859400" y="2745000"/>
            <a:ext cx="86562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142B49"/>
                </a:solidFill>
                <a:latin typeface="Aptos Display"/>
              </a:rPr>
              <a:t>WHAT WE ACHIEVED? 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Picture 26" descr="image.png"/>
          <p:cNvPicPr/>
          <p:nvPr/>
        </p:nvPicPr>
        <p:blipFill>
          <a:blip r:embed="rId2"/>
          <a:stretch/>
        </p:blipFill>
        <p:spPr>
          <a:xfrm>
            <a:off x="360" y="36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483" name="Picture 32" descr="image.png"/>
          <p:cNvPicPr/>
          <p:nvPr/>
        </p:nvPicPr>
        <p:blipFill>
          <a:blip r:embed="rId3"/>
          <a:stretch/>
        </p:blipFill>
        <p:spPr>
          <a:xfrm>
            <a:off x="416520" y="5829480"/>
            <a:ext cx="11429280" cy="723600"/>
          </a:xfrm>
          <a:prstGeom prst="rect">
            <a:avLst/>
          </a:prstGeom>
          <a:ln w="0">
            <a:noFill/>
          </a:ln>
        </p:spPr>
      </p:pic>
      <p:pic>
        <p:nvPicPr>
          <p:cNvPr id="484" name="Picture 110" descr="image.png"/>
          <p:cNvPicPr/>
          <p:nvPr/>
        </p:nvPicPr>
        <p:blipFill>
          <a:blip r:embed="rId4"/>
          <a:stretch/>
        </p:blipFill>
        <p:spPr>
          <a:xfrm>
            <a:off x="380520" y="1966680"/>
            <a:ext cx="3682440" cy="2376720"/>
          </a:xfrm>
          <a:prstGeom prst="rect">
            <a:avLst/>
          </a:prstGeom>
          <a:ln w="0">
            <a:noFill/>
          </a:ln>
        </p:spPr>
      </p:pic>
      <p:pic>
        <p:nvPicPr>
          <p:cNvPr id="485" name="Picture 111" descr="image.png"/>
          <p:cNvPicPr/>
          <p:nvPr/>
        </p:nvPicPr>
        <p:blipFill>
          <a:blip r:embed="rId5"/>
          <a:stretch/>
        </p:blipFill>
        <p:spPr>
          <a:xfrm>
            <a:off x="4254120" y="1966680"/>
            <a:ext cx="3682800" cy="2376720"/>
          </a:xfrm>
          <a:prstGeom prst="rect">
            <a:avLst/>
          </a:prstGeom>
          <a:ln w="0">
            <a:noFill/>
          </a:ln>
        </p:spPr>
      </p:pic>
      <p:pic>
        <p:nvPicPr>
          <p:cNvPr id="486" name="Picture 112" descr="image.png"/>
          <p:cNvPicPr/>
          <p:nvPr/>
        </p:nvPicPr>
        <p:blipFill>
          <a:blip r:embed="rId6"/>
          <a:stretch/>
        </p:blipFill>
        <p:spPr>
          <a:xfrm>
            <a:off x="8229600" y="1966680"/>
            <a:ext cx="3682440" cy="2376720"/>
          </a:xfrm>
          <a:prstGeom prst="rect">
            <a:avLst/>
          </a:prstGeom>
          <a:ln w="0">
            <a:noFill/>
          </a:ln>
        </p:spPr>
      </p:pic>
      <p:pic>
        <p:nvPicPr>
          <p:cNvPr id="487" name="Picture 113" descr="image.png"/>
          <p:cNvPicPr/>
          <p:nvPr/>
        </p:nvPicPr>
        <p:blipFill>
          <a:blip r:embed="rId7"/>
          <a:stretch/>
        </p:blipFill>
        <p:spPr>
          <a:xfrm>
            <a:off x="610200" y="3920040"/>
            <a:ext cx="3301560" cy="237600"/>
          </a:xfrm>
          <a:prstGeom prst="rect">
            <a:avLst/>
          </a:prstGeom>
          <a:ln w="0">
            <a:noFill/>
          </a:ln>
        </p:spPr>
      </p:pic>
      <p:pic>
        <p:nvPicPr>
          <p:cNvPr id="488" name="Picture 114" descr="image.png"/>
          <p:cNvPicPr/>
          <p:nvPr/>
        </p:nvPicPr>
        <p:blipFill>
          <a:blip r:embed="rId8"/>
          <a:stretch/>
        </p:blipFill>
        <p:spPr>
          <a:xfrm>
            <a:off x="4483440" y="3920040"/>
            <a:ext cx="3301560" cy="237600"/>
          </a:xfrm>
          <a:prstGeom prst="rect">
            <a:avLst/>
          </a:prstGeom>
          <a:ln w="0">
            <a:noFill/>
          </a:ln>
        </p:spPr>
      </p:pic>
      <p:pic>
        <p:nvPicPr>
          <p:cNvPr id="489" name="Picture 115" descr="image.png"/>
          <p:cNvPicPr/>
          <p:nvPr/>
        </p:nvPicPr>
        <p:blipFill>
          <a:blip r:embed="rId9"/>
          <a:stretch/>
        </p:blipFill>
        <p:spPr>
          <a:xfrm>
            <a:off x="8357040" y="3920040"/>
            <a:ext cx="3301560" cy="237600"/>
          </a:xfrm>
          <a:prstGeom prst="rect">
            <a:avLst/>
          </a:prstGeom>
          <a:ln w="0">
            <a:noFill/>
          </a:ln>
        </p:spPr>
      </p:pic>
      <p:pic>
        <p:nvPicPr>
          <p:cNvPr id="490" name="Picture 116" descr="image.png"/>
          <p:cNvPicPr/>
          <p:nvPr/>
        </p:nvPicPr>
        <p:blipFill>
          <a:blip r:embed="rId10"/>
          <a:stretch/>
        </p:blipFill>
        <p:spPr>
          <a:xfrm>
            <a:off x="380520" y="774000"/>
            <a:ext cx="132840" cy="128160"/>
          </a:xfrm>
          <a:prstGeom prst="rect">
            <a:avLst/>
          </a:prstGeom>
          <a:ln w="0">
            <a:noFill/>
          </a:ln>
        </p:spPr>
      </p:pic>
      <p:sp>
        <p:nvSpPr>
          <p:cNvPr id="491" name="TextBox 33"/>
          <p:cNvSpPr/>
          <p:nvPr/>
        </p:nvSpPr>
        <p:spPr>
          <a:xfrm>
            <a:off x="590040" y="762120"/>
            <a:ext cx="6209640" cy="3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10" b="0" strike="noStrike" spc="-1">
                <a:solidFill>
                  <a:srgbClr val="475569"/>
                </a:solidFill>
                <a:latin typeface="Lato Medium"/>
              </a:rPr>
              <a:t>Our solution contributes directly to 3 key UN Sustainable Development Goals (SDGs) &amp; operational excellence</a:t>
            </a:r>
            <a:endParaRPr lang="en-US" sz="101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36"/>
          <p:cNvSpPr/>
          <p:nvPr/>
        </p:nvSpPr>
        <p:spPr>
          <a:xfrm>
            <a:off x="610200" y="3000240"/>
            <a:ext cx="3301560" cy="76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511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Supports timely and reliable cancer diagnostic services through optimized management of radiopharmaceutical production, decay schedules, and hospital clinical operations.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37"/>
          <p:cNvSpPr/>
          <p:nvPr/>
        </p:nvSpPr>
        <p:spPr>
          <a:xfrm>
            <a:off x="4483440" y="3000240"/>
            <a:ext cx="3301560" cy="76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511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Digitizes nuclear medicine operations by seamless integration of inventory, production synthesisers, equipment maintenance, and hospital patient demand into one centralized platform.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43"/>
          <p:cNvSpPr/>
          <p:nvPr/>
        </p:nvSpPr>
        <p:spPr>
          <a:xfrm>
            <a:off x="8357040" y="3000240"/>
            <a:ext cx="3301560" cy="76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511"/>
              </a:lnSpc>
            </a:pPr>
            <a:r>
              <a:rPr lang="en-US" sz="980" b="0" strike="noStrike" spc="-1">
                <a:solidFill>
                  <a:srgbClr val="334155"/>
                </a:solidFill>
                <a:latin typeface="Lato"/>
              </a:rPr>
              <a:t>Improves consumable utilization, shelf-life expiry monitoring, and batch inventory planning—significantly minimizing avoidable clinical waste and radioisotope decay loss.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5" name="Picture 117" descr="image.png"/>
          <p:cNvPicPr/>
          <p:nvPr/>
        </p:nvPicPr>
        <p:blipFill>
          <a:blip r:embed="rId11"/>
          <a:stretch/>
        </p:blipFill>
        <p:spPr>
          <a:xfrm>
            <a:off x="609120" y="6086520"/>
            <a:ext cx="209160" cy="209160"/>
          </a:xfrm>
          <a:prstGeom prst="rect">
            <a:avLst/>
          </a:prstGeom>
          <a:ln w="0">
            <a:noFill/>
          </a:ln>
        </p:spPr>
      </p:pic>
      <p:pic>
        <p:nvPicPr>
          <p:cNvPr id="496" name="Picture 118" descr="image.png"/>
          <p:cNvPicPr/>
          <p:nvPr/>
        </p:nvPicPr>
        <p:blipFill>
          <a:blip r:embed="rId12"/>
          <a:stretch/>
        </p:blipFill>
        <p:spPr>
          <a:xfrm>
            <a:off x="610200" y="23382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497" name="TextBox 44"/>
          <p:cNvSpPr/>
          <p:nvPr/>
        </p:nvSpPr>
        <p:spPr>
          <a:xfrm>
            <a:off x="1181520" y="2286000"/>
            <a:ext cx="118080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Lato"/>
              </a:rPr>
              <a:t>UN SDG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8" name="Picture 119" descr="image.png"/>
          <p:cNvPicPr/>
          <p:nvPr/>
        </p:nvPicPr>
        <p:blipFill>
          <a:blip r:embed="rId13"/>
          <a:stretch/>
        </p:blipFill>
        <p:spPr>
          <a:xfrm>
            <a:off x="705240" y="3984120"/>
            <a:ext cx="114120" cy="109080"/>
          </a:xfrm>
          <a:prstGeom prst="rect">
            <a:avLst/>
          </a:prstGeom>
          <a:ln w="0">
            <a:noFill/>
          </a:ln>
        </p:spPr>
      </p:pic>
      <p:pic>
        <p:nvPicPr>
          <p:cNvPr id="499" name="Picture 120" descr="image.png"/>
          <p:cNvPicPr/>
          <p:nvPr/>
        </p:nvPicPr>
        <p:blipFill>
          <a:blip r:embed="rId14"/>
          <a:stretch/>
        </p:blipFill>
        <p:spPr>
          <a:xfrm>
            <a:off x="4483440" y="23382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500" name="TextBox 45"/>
          <p:cNvSpPr/>
          <p:nvPr/>
        </p:nvSpPr>
        <p:spPr>
          <a:xfrm>
            <a:off x="5054760" y="2286000"/>
            <a:ext cx="18284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Lato"/>
              </a:rPr>
              <a:t>UN SDG 9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1" name="Picture 121" descr="image.png"/>
          <p:cNvPicPr/>
          <p:nvPr/>
        </p:nvPicPr>
        <p:blipFill>
          <a:blip r:embed="rId15"/>
          <a:stretch/>
        </p:blipFill>
        <p:spPr>
          <a:xfrm>
            <a:off x="4578840" y="3984120"/>
            <a:ext cx="132840" cy="109080"/>
          </a:xfrm>
          <a:prstGeom prst="rect">
            <a:avLst/>
          </a:prstGeom>
          <a:ln w="0">
            <a:noFill/>
          </a:ln>
        </p:spPr>
      </p:pic>
      <p:pic>
        <p:nvPicPr>
          <p:cNvPr id="502" name="Picture 122" descr="image.png"/>
          <p:cNvPicPr/>
          <p:nvPr/>
        </p:nvPicPr>
        <p:blipFill>
          <a:blip r:embed="rId16"/>
          <a:stretch/>
        </p:blipFill>
        <p:spPr>
          <a:xfrm>
            <a:off x="8357040" y="23382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503" name="TextBox 46"/>
          <p:cNvSpPr/>
          <p:nvPr/>
        </p:nvSpPr>
        <p:spPr>
          <a:xfrm>
            <a:off x="8928360" y="2286000"/>
            <a:ext cx="213336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000000"/>
                </a:solidFill>
                <a:latin typeface="Lato"/>
              </a:rPr>
              <a:t>UN SDG 12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4" name="Picture 123" descr="image.png"/>
          <p:cNvPicPr/>
          <p:nvPr/>
        </p:nvPicPr>
        <p:blipFill>
          <a:blip r:embed="rId17"/>
          <a:stretch/>
        </p:blipFill>
        <p:spPr>
          <a:xfrm>
            <a:off x="8452080" y="3984120"/>
            <a:ext cx="114120" cy="109080"/>
          </a:xfrm>
          <a:prstGeom prst="rect">
            <a:avLst/>
          </a:prstGeom>
          <a:ln w="0">
            <a:noFill/>
          </a:ln>
        </p:spPr>
      </p:pic>
      <p:sp>
        <p:nvSpPr>
          <p:cNvPr id="505" name="TextBox 51"/>
          <p:cNvSpPr/>
          <p:nvPr/>
        </p:nvSpPr>
        <p:spPr>
          <a:xfrm>
            <a:off x="914040" y="6000840"/>
            <a:ext cx="473040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Poppins"/>
              </a:rPr>
              <a:t>Core Operational &amp; Sustainability Impact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Box 177"/>
          <p:cNvSpPr/>
          <p:nvPr/>
        </p:nvSpPr>
        <p:spPr>
          <a:xfrm>
            <a:off x="914040" y="6238800"/>
            <a:ext cx="5257800" cy="13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strike="noStrike" spc="-1">
                <a:solidFill>
                  <a:srgbClr val="94A3B8"/>
                </a:solidFill>
                <a:latin typeface="Lato"/>
              </a:rPr>
              <a:t>Driving sustainable value across healthcare delivery, infrastructure, and resource efficiency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7" name="Picture 124" descr="image.png"/>
          <p:cNvPicPr/>
          <p:nvPr/>
        </p:nvPicPr>
        <p:blipFill>
          <a:blip r:embed="rId18"/>
          <a:stretch/>
        </p:blipFill>
        <p:spPr>
          <a:xfrm>
            <a:off x="7353000" y="6124680"/>
            <a:ext cx="151920" cy="132840"/>
          </a:xfrm>
          <a:prstGeom prst="rect">
            <a:avLst/>
          </a:prstGeom>
          <a:ln w="0">
            <a:noFill/>
          </a:ln>
        </p:spPr>
      </p:pic>
      <p:sp>
        <p:nvSpPr>
          <p:cNvPr id="508" name="TextBox 178"/>
          <p:cNvSpPr/>
          <p:nvPr/>
        </p:nvSpPr>
        <p:spPr>
          <a:xfrm>
            <a:off x="7473600" y="6114960"/>
            <a:ext cx="1428840" cy="1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strike="noStrike" spc="-1">
                <a:solidFill>
                  <a:srgbClr val="F8FAFC"/>
                </a:solidFill>
                <a:latin typeface="Lato SemiBold"/>
              </a:rPr>
              <a:t>Better Healthcare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9" name="Picture 125" descr="image.png"/>
          <p:cNvPicPr/>
          <p:nvPr/>
        </p:nvPicPr>
        <p:blipFill>
          <a:blip r:embed="rId19"/>
          <a:stretch/>
        </p:blipFill>
        <p:spPr>
          <a:xfrm>
            <a:off x="8897040" y="6124680"/>
            <a:ext cx="132840" cy="132840"/>
          </a:xfrm>
          <a:prstGeom prst="rect">
            <a:avLst/>
          </a:prstGeom>
          <a:ln w="0">
            <a:noFill/>
          </a:ln>
        </p:spPr>
      </p:pic>
      <p:sp>
        <p:nvSpPr>
          <p:cNvPr id="510" name="TextBox 179"/>
          <p:cNvSpPr/>
          <p:nvPr/>
        </p:nvSpPr>
        <p:spPr>
          <a:xfrm>
            <a:off x="9034560" y="6114960"/>
            <a:ext cx="1552680" cy="1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strike="noStrike" spc="-1">
                <a:solidFill>
                  <a:srgbClr val="F8FAFC"/>
                </a:solidFill>
                <a:latin typeface="Lato SemiBold"/>
              </a:rPr>
              <a:t>Smarter Operations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1" name="Picture 126" descr="image.png"/>
          <p:cNvPicPr/>
          <p:nvPr/>
        </p:nvPicPr>
        <p:blipFill>
          <a:blip r:embed="rId20"/>
          <a:stretch/>
        </p:blipFill>
        <p:spPr>
          <a:xfrm>
            <a:off x="10625400" y="6124680"/>
            <a:ext cx="132840" cy="132840"/>
          </a:xfrm>
          <a:prstGeom prst="rect">
            <a:avLst/>
          </a:prstGeom>
          <a:ln w="0">
            <a:noFill/>
          </a:ln>
        </p:spPr>
      </p:pic>
      <p:sp>
        <p:nvSpPr>
          <p:cNvPr id="512" name="TextBox 180"/>
          <p:cNvSpPr/>
          <p:nvPr/>
        </p:nvSpPr>
        <p:spPr>
          <a:xfrm>
            <a:off x="10762920" y="6114960"/>
            <a:ext cx="895320" cy="1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80" b="0" strike="noStrike" spc="-1">
                <a:solidFill>
                  <a:srgbClr val="F8FAFC"/>
                </a:solidFill>
                <a:latin typeface="Lato SemiBold"/>
              </a:rPr>
              <a:t>Less Waste</a:t>
            </a:r>
            <a:endParaRPr lang="en-US" sz="98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3" name="Picture 127" descr="image.png"/>
          <p:cNvPicPr/>
          <p:nvPr/>
        </p:nvPicPr>
        <p:blipFill>
          <a:blip r:embed="rId21"/>
          <a:stretch/>
        </p:blipFill>
        <p:spPr>
          <a:xfrm>
            <a:off x="743400" y="2471400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514" name="TextBox 181"/>
          <p:cNvSpPr/>
          <p:nvPr/>
        </p:nvSpPr>
        <p:spPr>
          <a:xfrm>
            <a:off x="1181520" y="2466720"/>
            <a:ext cx="123984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200" b="1" strike="noStrike" spc="-1">
                <a:solidFill>
                  <a:srgbClr val="166534"/>
                </a:solidFill>
                <a:latin typeface="Poppins"/>
              </a:rPr>
              <a:t>Good Health &amp;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ts val="1500"/>
              </a:lnSpc>
            </a:pPr>
            <a:r>
              <a:rPr lang="en-US" sz="1200" b="1" strike="noStrike" spc="-1">
                <a:solidFill>
                  <a:srgbClr val="166534"/>
                </a:solidFill>
                <a:latin typeface="Poppins"/>
              </a:rPr>
              <a:t> Well-being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5" name="Picture 128" descr="image.png"/>
          <p:cNvPicPr/>
          <p:nvPr/>
        </p:nvPicPr>
        <p:blipFill>
          <a:blip r:embed="rId22"/>
          <a:stretch/>
        </p:blipFill>
        <p:spPr>
          <a:xfrm>
            <a:off x="4602600" y="2471400"/>
            <a:ext cx="218880" cy="190080"/>
          </a:xfrm>
          <a:prstGeom prst="rect">
            <a:avLst/>
          </a:prstGeom>
          <a:ln w="0">
            <a:noFill/>
          </a:ln>
        </p:spPr>
      </p:pic>
      <p:sp>
        <p:nvSpPr>
          <p:cNvPr id="516" name="TextBox 182"/>
          <p:cNvSpPr/>
          <p:nvPr/>
        </p:nvSpPr>
        <p:spPr>
          <a:xfrm>
            <a:off x="5054760" y="2466720"/>
            <a:ext cx="191988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200" b="1" strike="noStrike" spc="-1">
                <a:solidFill>
                  <a:srgbClr val="C2410C"/>
                </a:solidFill>
                <a:latin typeface="Poppins"/>
              </a:rPr>
              <a:t>Industry, Innovation &amp;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ts val="1500"/>
              </a:lnSpc>
            </a:pPr>
            <a:r>
              <a:rPr lang="en-US" sz="1200" b="1" strike="noStrike" spc="-1">
                <a:solidFill>
                  <a:srgbClr val="C2410C"/>
                </a:solidFill>
                <a:latin typeface="Poppins"/>
              </a:rPr>
              <a:t> Infrastructure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7" name="Picture 129" descr="image.png"/>
          <p:cNvPicPr/>
          <p:nvPr/>
        </p:nvPicPr>
        <p:blipFill>
          <a:blip r:embed="rId23"/>
          <a:stretch/>
        </p:blipFill>
        <p:spPr>
          <a:xfrm>
            <a:off x="8490240" y="2471400"/>
            <a:ext cx="190080" cy="190080"/>
          </a:xfrm>
          <a:prstGeom prst="rect">
            <a:avLst/>
          </a:prstGeom>
          <a:ln w="0">
            <a:noFill/>
          </a:ln>
        </p:spPr>
      </p:pic>
      <p:sp>
        <p:nvSpPr>
          <p:cNvPr id="518" name="TextBox 183"/>
          <p:cNvSpPr/>
          <p:nvPr/>
        </p:nvSpPr>
        <p:spPr>
          <a:xfrm>
            <a:off x="8928360" y="2466720"/>
            <a:ext cx="2239920" cy="37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r>
              <a:rPr lang="en-US" sz="1200" b="1" strike="noStrike" spc="-1">
                <a:solidFill>
                  <a:srgbClr val="854D0E"/>
                </a:solidFill>
                <a:latin typeface="Poppins"/>
              </a:rPr>
              <a:t>Responsible Consumption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ts val="1500"/>
              </a:lnSpc>
            </a:pPr>
            <a:r>
              <a:rPr lang="en-US" sz="1200" b="1" strike="noStrike" spc="-1">
                <a:solidFill>
                  <a:srgbClr val="854D0E"/>
                </a:solidFill>
                <a:latin typeface="Poppins"/>
              </a:rPr>
              <a:t> &amp; Production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Box 184"/>
          <p:cNvSpPr/>
          <p:nvPr/>
        </p:nvSpPr>
        <p:spPr>
          <a:xfrm>
            <a:off x="380520" y="304920"/>
            <a:ext cx="11810160" cy="32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strike="noStrike" spc="-1">
                <a:solidFill>
                  <a:srgbClr val="0F172A"/>
                </a:solidFill>
                <a:latin typeface="Poppins"/>
              </a:rPr>
              <a:t>Sustainable Development Goals Alignment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Box 148"/>
          <p:cNvSpPr/>
          <p:nvPr/>
        </p:nvSpPr>
        <p:spPr>
          <a:xfrm>
            <a:off x="3420720" y="2745000"/>
            <a:ext cx="5535000" cy="91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5400" b="1" strike="noStrike" spc="-1">
                <a:solidFill>
                  <a:srgbClr val="142B49"/>
                </a:solidFill>
                <a:latin typeface="Aptos Display"/>
              </a:rPr>
              <a:t>CONCLUSION 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Box 2"/>
          <p:cNvSpPr/>
          <p:nvPr/>
        </p:nvSpPr>
        <p:spPr>
          <a:xfrm>
            <a:off x="4612320" y="1143000"/>
            <a:ext cx="293652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r>
              <a:rPr lang="en-US" sz="3600" b="1" strike="noStrike" spc="-1">
                <a:solidFill>
                  <a:srgbClr val="142B49"/>
                </a:solidFill>
                <a:latin typeface="Aptos Display"/>
              </a:rPr>
              <a:t>Conclusion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Box 3"/>
          <p:cNvSpPr/>
          <p:nvPr/>
        </p:nvSpPr>
        <p:spPr>
          <a:xfrm>
            <a:off x="1611000" y="4796280"/>
            <a:ext cx="969228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/>
            <a:r>
              <a:rPr lang="en-US" sz="1500" b="0" strike="noStrike" spc="-1">
                <a:solidFill>
                  <a:srgbClr val="2D3741"/>
                </a:solidFill>
                <a:latin typeface="Aptos"/>
              </a:rPr>
              <a:t>The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proposed platform provides a single, controlled operational environment for nuclear medicine inventory, kit lifecycle, production, issues, expiry, downtime and management reporting.</a:t>
            </a:r>
          </a:p>
          <a:p>
            <a:pPr algn="ctr" defTabSz="457200"/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Rounded Rectangle 4"/>
          <p:cNvSpPr/>
          <p:nvPr/>
        </p:nvSpPr>
        <p:spPr>
          <a:xfrm>
            <a:off x="3200400" y="3685320"/>
            <a:ext cx="5943600" cy="658080"/>
          </a:xfrm>
          <a:prstGeom prst="roundRect">
            <a:avLst>
              <a:gd name="adj" fmla="val 16667"/>
            </a:avLst>
          </a:prstGeom>
          <a:solidFill>
            <a:srgbClr val="1F7D8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Aptos"/>
              </a:rPr>
              <a:t>Centralized , Traceable &amp; Role-Based Solution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Box 523"/>
          <p:cNvSpPr txBox="1"/>
          <p:nvPr/>
        </p:nvSpPr>
        <p:spPr>
          <a:xfrm>
            <a:off x="1600200" y="2113560"/>
            <a:ext cx="9601200" cy="85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 defTabSz="457200"/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We</a:t>
            </a:r>
            <a:r>
              <a:rPr lang="en-US" sz="1500" b="0" strike="noStrike" spc="-1">
                <a:solidFill>
                  <a:srgbClr val="2D3741"/>
                </a:solidFill>
                <a:latin typeface="Aptos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are not simply digitizing Excel sheets. We are connecting inventory, production and operational data into one system so that healthcare teams can move from manual tracking to informed decision-making.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Picture 9" descr="image.png"/>
          <p:cNvPicPr/>
          <p:nvPr/>
        </p:nvPicPr>
        <p:blipFill>
          <a:blip r:embed="rId2"/>
          <a:stretch/>
        </p:blipFill>
        <p:spPr>
          <a:xfrm>
            <a:off x="734040" y="1781280"/>
            <a:ext cx="4966920" cy="294840"/>
          </a:xfrm>
          <a:prstGeom prst="rect">
            <a:avLst/>
          </a:prstGeom>
          <a:ln w="0">
            <a:noFill/>
          </a:ln>
        </p:spPr>
      </p:pic>
      <p:pic>
        <p:nvPicPr>
          <p:cNvPr id="526" name="Picture 10" descr="image.png"/>
          <p:cNvPicPr/>
          <p:nvPr/>
        </p:nvPicPr>
        <p:blipFill>
          <a:blip r:embed="rId3"/>
          <a:stretch/>
        </p:blipFill>
        <p:spPr>
          <a:xfrm>
            <a:off x="844200" y="4572000"/>
            <a:ext cx="10813680" cy="1228320"/>
          </a:xfrm>
          <a:prstGeom prst="rect">
            <a:avLst/>
          </a:prstGeom>
          <a:ln w="0">
            <a:noFill/>
          </a:ln>
        </p:spPr>
      </p:pic>
      <p:sp>
        <p:nvSpPr>
          <p:cNvPr id="527" name="TextBox 147"/>
          <p:cNvSpPr/>
          <p:nvPr/>
        </p:nvSpPr>
        <p:spPr>
          <a:xfrm>
            <a:off x="761760" y="2314440"/>
            <a:ext cx="11400840" cy="62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949"/>
              </a:lnSpc>
            </a:pPr>
            <a:r>
              <a:rPr lang="en-PK" sz="3200" b="1" strike="noStrike" spc="-1">
                <a:solidFill>
                  <a:srgbClr val="0F172A"/>
                </a:solidFill>
                <a:latin typeface="Plus Jakarta Sans"/>
              </a:rPr>
              <a:t>THANK YOU!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Box 149"/>
          <p:cNvSpPr/>
          <p:nvPr/>
        </p:nvSpPr>
        <p:spPr>
          <a:xfrm>
            <a:off x="952560" y="4709160"/>
            <a:ext cx="33904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Muhammad Abdullah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PK" sz="1050" b="0" strike="noStrike" spc="-1">
                <a:solidFill>
                  <a:srgbClr val="64748B"/>
                </a:solidFill>
                <a:latin typeface="Inter"/>
              </a:rPr>
              <a:t>abdullahwasavailable@gmail.com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Box 150"/>
          <p:cNvSpPr/>
          <p:nvPr/>
        </p:nvSpPr>
        <p:spPr>
          <a:xfrm>
            <a:off x="4343040" y="4709160"/>
            <a:ext cx="33904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Abubakar Ali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PK" sz="1050" b="0" strike="noStrike" spc="-1">
                <a:solidFill>
                  <a:srgbClr val="64748B"/>
                </a:solidFill>
                <a:latin typeface="Inter"/>
              </a:rPr>
              <a:t>ali.prince.x786@gmail.com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Box 151"/>
          <p:cNvSpPr/>
          <p:nvPr/>
        </p:nvSpPr>
        <p:spPr>
          <a:xfrm>
            <a:off x="7733520" y="4709160"/>
            <a:ext cx="33904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Ali Akbar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PK" sz="1050" b="0" strike="noStrike" spc="-1">
                <a:solidFill>
                  <a:srgbClr val="64748B"/>
                </a:solidFill>
                <a:latin typeface="Inter"/>
              </a:rPr>
              <a:t>aliakbar0089@gmail.com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Box 152"/>
          <p:cNvSpPr/>
          <p:nvPr/>
        </p:nvSpPr>
        <p:spPr>
          <a:xfrm>
            <a:off x="914040" y="5326200"/>
            <a:ext cx="3390480" cy="1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Fareha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US" sz="1050" b="0" strike="noStrike" spc="-1">
                <a:solidFill>
                  <a:srgbClr val="64748B"/>
                </a:solidFill>
                <a:latin typeface="Inter"/>
              </a:rPr>
              <a:t>farehaamir152@gmail.com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Box 153"/>
          <p:cNvSpPr/>
          <p:nvPr/>
        </p:nvSpPr>
        <p:spPr>
          <a:xfrm>
            <a:off x="4343040" y="5257800"/>
            <a:ext cx="339048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PK" sz="1050" b="1" strike="noStrike" spc="-1">
                <a:solidFill>
                  <a:srgbClr val="0F172A"/>
                </a:solidFill>
                <a:latin typeface="Inter"/>
              </a:rPr>
              <a:t>Syeda Masooma Batool</a:t>
            </a:r>
            <a:r>
              <a:rPr lang="en-PK" sz="1050" b="0" strike="noStrike" spc="-1">
                <a:solidFill>
                  <a:srgbClr val="000000"/>
                </a:solidFill>
                <a:latin typeface="Inter"/>
              </a:rPr>
              <a:t> </a:t>
            </a:r>
            <a:r>
              <a:rPr lang="en-PK" sz="1050" b="0" strike="noStrike" spc="-1">
                <a:solidFill>
                  <a:srgbClr val="64748B"/>
                </a:solidFill>
                <a:latin typeface="Inter"/>
              </a:rPr>
              <a:t>masoomabatool212@gmail.com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3" name="Picture 11" descr="Pak Angels | LinkedIn"/>
          <p:cNvPicPr/>
          <p:nvPr/>
        </p:nvPicPr>
        <p:blipFill>
          <a:blip r:embed="rId4"/>
          <a:srcRect t="30641" b="31378"/>
          <a:stretch/>
        </p:blipFill>
        <p:spPr>
          <a:xfrm>
            <a:off x="761760" y="876240"/>
            <a:ext cx="2597400" cy="856800"/>
          </a:xfrm>
          <a:prstGeom prst="rect">
            <a:avLst/>
          </a:prstGeom>
          <a:ln w="0">
            <a:noFill/>
          </a:ln>
        </p:spPr>
      </p:pic>
      <p:sp>
        <p:nvSpPr>
          <p:cNvPr id="534" name="TextBox 155"/>
          <p:cNvSpPr/>
          <p:nvPr/>
        </p:nvSpPr>
        <p:spPr>
          <a:xfrm>
            <a:off x="879480" y="4114800"/>
            <a:ext cx="3463560" cy="31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75"/>
              </a:lnSpc>
            </a:pPr>
            <a:r>
              <a:rPr lang="en-US" sz="1650" b="1" u="sng" strike="noStrike" spc="-1">
                <a:solidFill>
                  <a:schemeClr val="dk1"/>
                </a:solidFill>
                <a:uFillTx/>
                <a:latin typeface="Inter Medium"/>
              </a:rPr>
              <a:t>TEAM MEMBERS: 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</TotalTime>
  <Words>1956</Words>
  <Application>Microsoft Office PowerPoint</Application>
  <PresentationFormat>Widescreen</PresentationFormat>
  <Paragraphs>326</Paragraphs>
  <Slides>27</Slides>
  <Notes>0</Notes>
  <HiddenSlides>0</HiddenSlides>
  <MMClips>11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27</vt:i4>
      </vt:variant>
    </vt:vector>
  </HeadingPairs>
  <TitlesOfParts>
    <vt:vector size="54" baseType="lpstr">
      <vt:lpstr>Aptos</vt:lpstr>
      <vt:lpstr>Aptos Display</vt:lpstr>
      <vt:lpstr>Arial</vt:lpstr>
      <vt:lpstr>Calibri</vt:lpstr>
      <vt:lpstr>Inter</vt:lpstr>
      <vt:lpstr>Inter Medium</vt:lpstr>
      <vt:lpstr>Lato</vt:lpstr>
      <vt:lpstr>Lato Medium</vt:lpstr>
      <vt:lpstr>Lato SemiBold</vt:lpstr>
      <vt:lpstr>Plus Jakarta Sans</vt:lpstr>
      <vt:lpstr>Poppins</vt:lpstr>
      <vt:lpstr>Poppins SemiBold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Fareha</dc:creator>
  <dc:description>generated using python-pptx</dc:description>
  <cp:lastModifiedBy>Fareha</cp:lastModifiedBy>
  <cp:revision>8</cp:revision>
  <dcterms:created xsi:type="dcterms:W3CDTF">2013-01-27T09:14:16Z</dcterms:created>
  <dcterms:modified xsi:type="dcterms:W3CDTF">2026-09-13T16:31:55Z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